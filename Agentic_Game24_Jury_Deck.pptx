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f158fbcb7a437f" /><Relationship Type="http://schemas.openxmlformats.org/officeDocument/2006/relationships/extended-properties" Target="/docProps/app.xml" Id="R7a41c4203c034e1c" /><Relationship Type="http://schemas.openxmlformats.org/officeDocument/2006/relationships/officeDocument" Target="/ppt/presentation.xml" Id="Rd566048453d047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4550387d3343c7"/>
  </p:sldMasterIdLst>
  <p:notesMasterIdLst>
    <p:notesMasterId xmlns:r="http://schemas.openxmlformats.org/officeDocument/2006/relationships" r:id="R4d4cc90526634b81"/>
  </p:notesMasterIdLst>
  <p:sldIdLst>
    <p:sldId xmlns:r="http://schemas.openxmlformats.org/officeDocument/2006/relationships" id="256" r:id="Rd145869ec7834c4c"/>
    <p:sldId xmlns:r="http://schemas.openxmlformats.org/officeDocument/2006/relationships" id="257" r:id="R0e8c4fc5a6be48c0"/>
    <p:sldId xmlns:r="http://schemas.openxmlformats.org/officeDocument/2006/relationships" id="258" r:id="R58694c58865949d8"/>
    <p:sldId xmlns:r="http://schemas.openxmlformats.org/officeDocument/2006/relationships" id="259" r:id="R136a376d88194b53"/>
    <p:sldId xmlns:r="http://schemas.openxmlformats.org/officeDocument/2006/relationships" id="260" r:id="Re30948b1e9a946a5"/>
    <p:sldId xmlns:r="http://schemas.openxmlformats.org/officeDocument/2006/relationships" id="261" r:id="R2dee7975378c4427"/>
    <p:sldId xmlns:r="http://schemas.openxmlformats.org/officeDocument/2006/relationships" id="262" r:id="R65ce09d531f44aa6"/>
    <p:sldId xmlns:r="http://schemas.openxmlformats.org/officeDocument/2006/relationships" id="263" r:id="Re88da423ea9d4256"/>
    <p:sldId xmlns:r="http://schemas.openxmlformats.org/officeDocument/2006/relationships" id="264" r:id="R2ed70e58bfde4789"/>
    <p:sldId xmlns:r="http://schemas.openxmlformats.org/officeDocument/2006/relationships" id="265" r:id="R4dac9a70b9f342d0"/>
    <p:sldId xmlns:r="http://schemas.openxmlformats.org/officeDocument/2006/relationships" id="266" r:id="Rf5942b499fae4aa7"/>
    <p:sldId xmlns:r="http://schemas.openxmlformats.org/officeDocument/2006/relationships" id="267" r:id="Rd0ab45c6ffce4a8c"/>
    <p:sldId xmlns:r="http://schemas.openxmlformats.org/officeDocument/2006/relationships" id="268" r:id="R46f9226ef5a844ff"/>
    <p:sldId xmlns:r="http://schemas.openxmlformats.org/officeDocument/2006/relationships" id="269" r:id="Rf79fb81756eb4d0f"/>
    <p:sldId xmlns:r="http://schemas.openxmlformats.org/officeDocument/2006/relationships" id="270" r:id="Rc9419482998b4b20"/>
    <p:sldId xmlns:r="http://schemas.openxmlformats.org/officeDocument/2006/relationships" id="271" r:id="R656371ba0ca34f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183edbdbe44020" /><Relationship Type="http://schemas.openxmlformats.org/officeDocument/2006/relationships/slideMaster" Target="/ppt/slideMasters/slideMaster1.xml" Id="R7e4550387d3343c7" /><Relationship Type="http://schemas.openxmlformats.org/officeDocument/2006/relationships/notesMaster" Target="/ppt/notesMasters/notesMaster1.xml" Id="R4d4cc90526634b81" /><Relationship Type="http://schemas.openxmlformats.org/officeDocument/2006/relationships/presProps" Target="/ppt/presProps.xml" Id="Rd522d3253bbd403f" /><Relationship Type="http://schemas.openxmlformats.org/officeDocument/2006/relationships/tableStyles" Target="/ppt/tableStyles.xml" Id="R0c18310c7d4e435d" /><Relationship Type="http://schemas.openxmlformats.org/officeDocument/2006/relationships/slide" Target="/ppt/slides/slide1.xml" Id="Rd145869ec7834c4c" /><Relationship Type="http://schemas.openxmlformats.org/officeDocument/2006/relationships/slide" Target="/ppt/slides/slide2.xml" Id="R0e8c4fc5a6be48c0" /><Relationship Type="http://schemas.openxmlformats.org/officeDocument/2006/relationships/slide" Target="/ppt/slides/slide3.xml" Id="R58694c58865949d8" /><Relationship Type="http://schemas.openxmlformats.org/officeDocument/2006/relationships/slide" Target="/ppt/slides/slide4.xml" Id="R136a376d88194b53" /><Relationship Type="http://schemas.openxmlformats.org/officeDocument/2006/relationships/slide" Target="/ppt/slides/slide5.xml" Id="Re30948b1e9a946a5" /><Relationship Type="http://schemas.openxmlformats.org/officeDocument/2006/relationships/slide" Target="/ppt/slides/slide6.xml" Id="R2dee7975378c4427" /><Relationship Type="http://schemas.openxmlformats.org/officeDocument/2006/relationships/slide" Target="/ppt/slides/slide7.xml" Id="R65ce09d531f44aa6" /><Relationship Type="http://schemas.openxmlformats.org/officeDocument/2006/relationships/slide" Target="/ppt/slides/slide8.xml" Id="Re88da423ea9d4256" /><Relationship Type="http://schemas.openxmlformats.org/officeDocument/2006/relationships/slide" Target="/ppt/slides/slide9.xml" Id="R2ed70e58bfde4789" /><Relationship Type="http://schemas.openxmlformats.org/officeDocument/2006/relationships/slide" Target="/ppt/slides/slide10.xml" Id="R4dac9a70b9f342d0" /><Relationship Type="http://schemas.openxmlformats.org/officeDocument/2006/relationships/slide" Target="/ppt/slides/slide11.xml" Id="Rf5942b499fae4aa7" /><Relationship Type="http://schemas.openxmlformats.org/officeDocument/2006/relationships/slide" Target="/ppt/slides/slide12.xml" Id="Rd0ab45c6ffce4a8c" /><Relationship Type="http://schemas.openxmlformats.org/officeDocument/2006/relationships/slide" Target="/ppt/slides/slide13.xml" Id="R46f9226ef5a844ff" /><Relationship Type="http://schemas.openxmlformats.org/officeDocument/2006/relationships/slide" Target="/ppt/slides/slide14.xml" Id="Rf79fb81756eb4d0f" /><Relationship Type="http://schemas.openxmlformats.org/officeDocument/2006/relationships/slide" Target="/ppt/slides/slide15.xml" Id="Rc9419482998b4b20" /><Relationship Type="http://schemas.openxmlformats.org/officeDocument/2006/relationships/slide" Target="/ppt/slides/slide16.xml" Id="R656371ba0ca34f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c2b1d3bcc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04a0082151407f" /><Relationship Type="http://schemas.openxmlformats.org/officeDocument/2006/relationships/notesMaster" Target="/ppt/notesMasters/notesMaster1.xml" Id="R28d0750e3a214b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9262a47eb4c10" /><Relationship Type="http://schemas.openxmlformats.org/officeDocument/2006/relationships/notesMaster" Target="/ppt/notesMasters/notesMaster1.xml" Id="Rd3d89aefb9ad46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0dba5124f43d8" /><Relationship Type="http://schemas.openxmlformats.org/officeDocument/2006/relationships/notesMaster" Target="/ppt/notesMasters/notesMaster1.xml" Id="R9337e667e60b4b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22574db8c24ee3" /><Relationship Type="http://schemas.openxmlformats.org/officeDocument/2006/relationships/notesMaster" Target="/ppt/notesMasters/notesMaster1.xml" Id="R765e4071f49047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8d97c81bce4c30" /><Relationship Type="http://schemas.openxmlformats.org/officeDocument/2006/relationships/notesMaster" Target="/ppt/notesMasters/notesMaster1.xml" Id="R3b1100b942ce48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177478c6114815" /><Relationship Type="http://schemas.openxmlformats.org/officeDocument/2006/relationships/notesMaster" Target="/ppt/notesMasters/notesMaster1.xml" Id="Rd214b60b5a5141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fc425ac42a4743" /><Relationship Type="http://schemas.openxmlformats.org/officeDocument/2006/relationships/notesMaster" Target="/ppt/notesMasters/notesMaster1.xml" Id="R5e583b4c23f144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d7cb58a80d4777" /><Relationship Type="http://schemas.openxmlformats.org/officeDocument/2006/relationships/notesMaster" Target="/ppt/notesMasters/notesMaster1.xml" Id="R58b2040bf2b443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335afc9d6c4aa8" /><Relationship Type="http://schemas.openxmlformats.org/officeDocument/2006/relationships/notesMaster" Target="/ppt/notesMasters/notesMaster1.xml" Id="Rf1109e16cc0844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35db22526c4caa" /><Relationship Type="http://schemas.openxmlformats.org/officeDocument/2006/relationships/notesMaster" Target="/ppt/notesMasters/notesMaster1.xml" Id="Rdeeb909514624b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e42092e7cd4a6c" /><Relationship Type="http://schemas.openxmlformats.org/officeDocument/2006/relationships/notesMaster" Target="/ppt/notesMasters/notesMaster1.xml" Id="R8fbe430705374d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5b6b30694f494c" /><Relationship Type="http://schemas.openxmlformats.org/officeDocument/2006/relationships/notesMaster" Target="/ppt/notesMasters/notesMaster1.xml" Id="R24cd8bebbaec41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37e4f74b5d4a27" /><Relationship Type="http://schemas.openxmlformats.org/officeDocument/2006/relationships/notesMaster" Target="/ppt/notesMasters/notesMaster1.xml" Id="Re23c0e50ebab41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c7bf019cab4c5c" /><Relationship Type="http://schemas.openxmlformats.org/officeDocument/2006/relationships/notesMaster" Target="/ppt/notesMasters/notesMaster1.xml" Id="R9915019f7dd745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1d54c746114e06" /><Relationship Type="http://schemas.openxmlformats.org/officeDocument/2006/relationships/notesMaster" Target="/ppt/notesMasters/notesMaster1.xml" Id="R44e8c4954dc24a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c048274de8490e" /><Relationship Type="http://schemas.openxmlformats.org/officeDocument/2006/relationships/notesMaster" Target="/ppt/notesMasters/notesMaster1.xml" Id="R7a99a5c3e6be44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tension: a four-number puzzle can reveal whether an AI truly searches or merely commits to its first idea.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README.md</a:t>
            </a:r>
          </a:p>
          <a:p xmlns:a="http://schemas.openxmlformats.org/drawingml/2006/main">
            <a:r>
              <a:t>- Generated hero visual: OpenAI image generation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challenge is search, not elementary arithmetic. The hard instance temporarily moves through fractions before reaching 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docs/REPORT.md §1 and §3</a:t>
            </a:r>
          </a:p>
          <a:p xmlns:a="http://schemas.openxmlformats.org/drawingml/2006/main">
            <a:r>
              <a:t>- Local exact validator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the jury's input question explicitly: four integers, three controlled puzzle sets and one fixed rule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game24/models.py</a:t>
            </a:r>
          </a:p>
          <a:p xmlns:a="http://schemas.openxmlformats.org/drawingml/2006/main">
            <a:r>
              <a:t>- Local game24/experiment.py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a conditional hypothesis. The experiment does not assume ToT is universally superior.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docs/REPORT.md §2 and §6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architectural decision is separation: Qwen may propose or rank, but only exact Python validation can certify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game24/workflow.py</a:t>
            </a:r>
          </a:p>
          <a:p xmlns:a="http://schemas.openxmlformats.org/drawingml/2006/main">
            <a:r>
              <a:t>- Local game24/agents.py</a:t>
            </a:r>
          </a:p>
          <a:p xmlns:a="http://schemas.openxmlformats.org/drawingml/2006/main">
            <a:r>
              <a:t>- Local game24/validator.py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four-word viva answer: plan, act, evaluate, adapt. State and feedback distinguish the system from a single LLM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game24/agents.py</a:t>
            </a:r>
          </a:p>
          <a:p xmlns:a="http://schemas.openxmlformats.org/drawingml/2006/main">
            <a:r>
              <a:t>- Local game24/engine.py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baseline intentionally receives one sequential attempt. Its lower compute budget is part of the measured tradeoff.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game24/prompts.py</a:t>
            </a:r>
          </a:p>
          <a:p xmlns:a="http://schemas.openxmlformats.org/drawingml/2006/main">
            <a:r>
              <a:t>- Local game24/agents.py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exact fractional path. ToT's advantage is preserving and evaluating alternatives, not possessing different arithmetic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verified expression: 8/(3-8/3)</a:t>
            </a:r>
          </a:p>
          <a:p xmlns:a="http://schemas.openxmlformats.org/drawingml/2006/main">
            <a:r>
              <a:t>- Generated hero visual: OpenAI image generation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no vector database is used. The task has no retrieval or semantic-memory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requirements.txt</a:t>
            </a:r>
          </a:p>
          <a:p xmlns:a="http://schemas.openxmlformats.org/drawingml/2006/main">
            <a:r>
              <a:t>- Local source modules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expected result is not just a claimed answer. It includes a validated expression, visible path and experiment metrics suitable for the comparison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app.py</a:t>
            </a:r>
          </a:p>
          <a:p xmlns:a="http://schemas.openxmlformats.org/drawingml/2006/main">
            <a:r>
              <a:t>- Local game24/experiment.py</a:t>
            </a:r>
          </a:p>
          <a:p xmlns:a="http://schemas.openxmlformats.org/drawingml/2006/main">
            <a:r>
              <a:t>- Local results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fixed seeds yield a more defensible success rate. One seed remains sufficient for the minimum six-run assignment.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README.md reproducible settings</a:t>
            </a:r>
          </a:p>
          <a:p xmlns:a="http://schemas.openxmlformats.org/drawingml/2006/main">
            <a:r>
              <a:t>- Local game24/experiment.py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software correctness from model performance. The deterministic safeguards are verified even when Ollama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unittest output: 8 tests passed</a:t>
            </a:r>
          </a:p>
          <a:p xmlns:a="http://schemas.openxmlformats.org/drawingml/2006/main">
            <a:r>
              <a:t>- Local tests/ directory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is already complete. The deployment target is a local Windows laptop using Ollama for Qwen and Streamlit for the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README.md setup instructions</a:t>
            </a:r>
          </a:p>
          <a:p xmlns:a="http://schemas.openxmlformats.org/drawingml/2006/main">
            <a:r>
              <a:t>- Local app.py</a:t>
            </a:r>
          </a:p>
          <a:p xmlns:a="http://schemas.openxmlformats.org/drawingml/2006/main">
            <a:r>
              <a:t>- Local game24/workflow.py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these are fallback algorithm measurements. Use the bundled benchmark to generate actual Qwen results before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results/deterministic_baseline.csv</a:t>
            </a:r>
          </a:p>
          <a:p xmlns:a="http://schemas.openxmlformats.org/drawingml/2006/main">
            <a:r>
              <a:t>- Explicitly not Qwen/Ollama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hard puzzle for the live demo. Keep the viva answers short, then point back to architecture, metrics and validator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docs/VIVA.md</a:t>
            </a:r>
          </a:p>
          <a:p xmlns:a="http://schemas.openxmlformats.org/drawingml/2006/main">
            <a:r>
              <a:t>- Local docs/SUBMISSION_CHECKLIST.md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adaptive routing. The practical solution is not ToT everywhere; it is verification-driven escalation.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docs/REPORT.md §10</a:t>
            </a:r>
          </a:p>
          <a:p xmlns:a="http://schemas.openxmlformats.org/drawingml/2006/main">
            <a:r>
              <a:t>- Local docs/VIVA.md</a:t>
            </a:r>
          </a:p>
          <a:p xmlns:a="http://schemas.openxmlformats.org/drawingml/2006/main">
            <a:r>
              <a:t>- Generated hero visual: OpenAI image generation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ad29b834c4d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9de6106d844f78" /><Relationship Type="http://schemas.openxmlformats.org/officeDocument/2006/relationships/slideLayout" Target="/ppt/slideLayouts/slideLayout1.xml" Id="R8b6da5e5b52842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da5e5b52842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44b211c044c7" /><Relationship Type="http://schemas.openxmlformats.org/officeDocument/2006/relationships/image" Target="/ppt/media/image.png" Id="R4c6a8658d0a840d3" /><Relationship Type="http://schemas.openxmlformats.org/officeDocument/2006/relationships/notesSlide" Target="/ppt/notesSlides/notesSlide1.xml" Id="Rda63c504ec2449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42e6b259b4416" /><Relationship Type="http://schemas.openxmlformats.org/officeDocument/2006/relationships/notesSlide" Target="/ppt/notesSlides/notesSlide2.xml" Id="Re3854663cc4843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1f3cedc544aa1" /><Relationship Type="http://schemas.openxmlformats.org/officeDocument/2006/relationships/notesSlide" Target="/ppt/notesSlides/notesSlide3.xml" Id="R04c9e730fa924b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c111333ac48fb" /><Relationship Type="http://schemas.openxmlformats.org/officeDocument/2006/relationships/notesSlide" Target="/ppt/notesSlides/notesSlide4.xml" Id="R07c498a2b0ab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019fec00846c1" /><Relationship Type="http://schemas.openxmlformats.org/officeDocument/2006/relationships/notesSlide" Target="/ppt/notesSlides/notesSlide5.xml" Id="Rd7a41db6337c46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0e8d2b97040df" /><Relationship Type="http://schemas.openxmlformats.org/officeDocument/2006/relationships/notesSlide" Target="/ppt/notesSlides/notesSlide6.xml" Id="R10ddaa1ecb5a4f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04ecff224468a" /><Relationship Type="http://schemas.openxmlformats.org/officeDocument/2006/relationships/notesSlide" Target="/ppt/notesSlides/notesSlide7.xml" Id="R84b6b3c40d3149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394a36cb14319" /><Relationship Type="http://schemas.openxmlformats.org/officeDocument/2006/relationships/image" Target="/ppt/media/image2.png" Id="Ra92e419ba24f4d7d" /><Relationship Type="http://schemas.openxmlformats.org/officeDocument/2006/relationships/notesSlide" Target="/ppt/notesSlides/notesSlide8.xml" Id="R6ec3041eb6db47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6e643832c44e1" /><Relationship Type="http://schemas.openxmlformats.org/officeDocument/2006/relationships/notesSlide" Target="/ppt/notesSlides/notesSlide9.xml" Id="R910bc152d7f743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8afe7655d44e0" /><Relationship Type="http://schemas.openxmlformats.org/officeDocument/2006/relationships/notesSlide" Target="/ppt/notesSlides/notesSlide10.xml" Id="R5ee3dad17ac146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52a88daa14a9c" /><Relationship Type="http://schemas.openxmlformats.org/officeDocument/2006/relationships/notesSlide" Target="/ppt/notesSlides/notesSlide11.xml" Id="R289916c4a4da41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093a8cf1d414d" /><Relationship Type="http://schemas.openxmlformats.org/officeDocument/2006/relationships/notesSlide" Target="/ppt/notesSlides/notesSlide12.xml" Id="R63e59395364c40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4c6bf9ec04640" /><Relationship Type="http://schemas.openxmlformats.org/officeDocument/2006/relationships/notesSlide" Target="/ppt/notesSlides/notesSlide13.xml" Id="R0a2ab902390549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a12dab7f84bda" /><Relationship Type="http://schemas.openxmlformats.org/officeDocument/2006/relationships/chart" Target="/ppt/slides/charts/chart1.xml" Id="R34815bb25cf04a3e" /><Relationship Type="http://schemas.openxmlformats.org/officeDocument/2006/relationships/notesSlide" Target="/ppt/notesSlides/notesSlide14.xml" Id="R1ae15d81ae9d47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24d75efbc4efa" /><Relationship Type="http://schemas.openxmlformats.org/officeDocument/2006/relationships/notesSlide" Target="/ppt/notesSlides/notesSlide15.xml" Id="R9de347bb074646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9d218233b4bad" /><Relationship Type="http://schemas.openxmlformats.org/officeDocument/2006/relationships/image" Target="/ppt/media/image3.png" Id="R6aa9df4f82854dc7" /><Relationship Type="http://schemas.openxmlformats.org/officeDocument/2006/relationships/notesSlide" Target="/ppt/notesSlides/notesSlide16.xml" Id="R711d6fb50201499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Verified success rate (%)</c:v>
          </c:tx>
          <c:spPr>
            <a:solidFill xmlns:a="http://schemas.openxmlformats.org/drawingml/2006/main">
              <a:srgbClr val="31D7FF"/>
            </a:solidFill>
          </c:spPr>
          <c:cat>
            <c:strLit>
              <c:ptCount val="2"/>
              <c:pt idx="0">
                <c:v>LINEAR</c:v>
              </c:pt>
              <c:pt idx="1">
                <c:v>TREE-OF-THOUGHT</c:v>
              </c:pt>
            </c:strLit>
          </c:cat>
          <c:val>
            <c:numLit>
              <c:formatCode>General</c:formatCode>
              <c:ptCount val="2"/>
              <c:pt idx="0">
                <c:v>0</c:v>
              </c:pt>
              <c:pt idx="1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F5F8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38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EEF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85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38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4A3C7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050816"/>
        </a:solidFill>
        <a:ln xmlns:a="http://schemas.openxmlformats.org/drawingml/2006/main" w="0">
          <a:solidFill>
            <a:srgbClr val="050816"/>
          </a:solidFill>
          <a:prstDash val="solid"/>
        </a:ln>
      </c:spPr>
    </c:plotArea>
    <c:plotVisOnly val="1"/>
  </c:chart>
  <c:spPr>
    <a:solidFill xmlns:a="http://schemas.openxmlformats.org/drawingml/2006/main">
      <a:srgbClr val="050816"/>
    </a:solidFill>
    <a:ln xmlns:a="http://schemas.openxmlformats.org/drawingml/2006/main" w="0">
      <a:solidFill>
        <a:srgbClr val="050816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a8658d0a840d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89D91-5ED6-4DCC-9F29-655BCF04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3" name="txt-68-61">
            <a:extLst xmlns:a="http://schemas.openxmlformats.org/drawingml/2006/main">
              <a:ext uri="{FF2B5EF4-FFF2-40B4-BE49-F238E27FC236}">
                <a16:creationId xmlns:a16="http://schemas.microsoft.com/office/drawing/2014/main" id="{F98CB52F-60CD-4A10-B60C-53F061F4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AGENTIC AI · TOPIC 09</a:t>
            </a:r>
          </a:p>
        </p:txBody>
      </p:sp>
      <p:sp>
        <p:nvSpPr>
          <p:cNvPr id="4" name="txt-58-142">
            <a:extLst xmlns:a="http://schemas.openxmlformats.org/drawingml/2006/main">
              <a:ext uri="{FF2B5EF4-FFF2-40B4-BE49-F238E27FC236}">
                <a16:creationId xmlns:a16="http://schemas.microsoft.com/office/drawing/2014/main" id="{BEC3B112-09D8-4EC6-BE5F-FA279F57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Agentic</a:t>
            </a:r>
          </a:p>
          <a:p xmlns:a="http://schemas.openxmlformats.org/drawingml/2006/main">
            <a:pPr algn="l">
              <a:defRPr sz="40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Game of 24</a:t>
            </a:r>
          </a:p>
          <a:p xmlns:a="http://schemas.openxmlformats.org/drawingml/2006/main">
            <a:pPr algn="l">
              <a:defRPr sz="40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Solver</a:t>
            </a:r>
          </a:p>
        </p:txBody>
      </p:sp>
      <p:sp>
        <p:nvSpPr>
          <p:cNvPr id="5" name="txt-60-382">
            <a:extLst xmlns:a="http://schemas.openxmlformats.org/drawingml/2006/main">
              <a:ext uri="{FF2B5EF4-FFF2-40B4-BE49-F238E27FC236}">
                <a16:creationId xmlns:a16="http://schemas.microsoft.com/office/drawing/2014/main" id="{D98C4E85-4A4C-4585-843A-36C52298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LINEAR REASONING  vs  TREE SEARCH</a:t>
            </a:r>
          </a:p>
        </p:txBody>
      </p:sp>
      <p:sp>
        <p:nvSpPr>
          <p:cNvPr id="6" name="txt-60-438">
            <a:extLst xmlns:a="http://schemas.openxmlformats.org/drawingml/2006/main">
              <a:ext uri="{FF2B5EF4-FFF2-40B4-BE49-F238E27FC236}">
                <a16:creationId xmlns:a16="http://schemas.microsoft.com/office/drawing/2014/main" id="{8A029CA0-F09D-4E01-A583-060475B9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4905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A controlled reasoning experiment where an AI proposes actions, evaluates branches and proves every answer with exact arithmetic.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8A90F-80AD-4112-9D96-7AB8708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435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D7FF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8" name="txt-60-603">
            <a:extLst xmlns:a="http://schemas.openxmlformats.org/drawingml/2006/main">
              <a:ext uri="{FF2B5EF4-FFF2-40B4-BE49-F238E27FC236}">
                <a16:creationId xmlns:a16="http://schemas.microsoft.com/office/drawing/2014/main" id="{E1B16C92-A60D-4356-8B13-8595D172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Shriya Jitendra Shinde</a:t>
            </a:r>
          </a:p>
        </p:txBody>
      </p:sp>
      <p:sp>
        <p:nvSpPr>
          <p:cNvPr id="9" name="txt-1170-664">
            <a:extLst xmlns:a="http://schemas.openxmlformats.org/drawingml/2006/main">
              <a:ext uri="{FF2B5EF4-FFF2-40B4-BE49-F238E27FC236}">
                <a16:creationId xmlns:a16="http://schemas.microsoft.com/office/drawing/2014/main" id="{63FCA713-7A28-4310-AC42-48C43A81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9047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515F684-F41F-416E-AFC7-C2A57EF7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01 · THE CHALLENGE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EBF4D1-D3C7-42C9-8765-C69E8A63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A tiny puzzle exposes a serious reasoning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3B1FB-2A8F-439D-82D9-7EA0541C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0D2E077-500E-4AA5-9C53-9970FEC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F85B5-13EF-4F3C-B8FE-EB54AA55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txt-52-186">
            <a:extLst xmlns:a="http://schemas.openxmlformats.org/drawingml/2006/main">
              <a:ext uri="{FF2B5EF4-FFF2-40B4-BE49-F238E27FC236}">
                <a16:creationId xmlns:a16="http://schemas.microsoft.com/office/drawing/2014/main" id="{3A8AEB99-84C1-47E1-BD01-9E2FD4E7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78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7" name="txt-62-350">
            <a:extLst xmlns:a="http://schemas.openxmlformats.org/drawingml/2006/main">
              <a:ext uri="{FF2B5EF4-FFF2-40B4-BE49-F238E27FC236}">
                <a16:creationId xmlns:a16="http://schemas.microsoft.com/office/drawing/2014/main" id="{CFBE98B6-E73D-4ABC-8C4E-5CB1C2E7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61F53-8E18-4BB1-90A6-A0472E8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9" name="txt-52-438">
            <a:extLst xmlns:a="http://schemas.openxmlformats.org/drawingml/2006/main">
              <a:ext uri="{FF2B5EF4-FFF2-40B4-BE49-F238E27FC236}">
                <a16:creationId xmlns:a16="http://schemas.microsoft.com/office/drawing/2014/main" id="{76B6A8D3-8EFA-4BF5-A83B-8AFA8130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Use all four numbers exactly once</a:t>
            </a:r>
          </a:p>
        </p:txBody>
      </p:sp>
      <p:sp>
        <p:nvSpPr>
          <p:cNvPr id="10" name="txt-52-528">
            <a:extLst xmlns:a="http://schemas.openxmlformats.org/drawingml/2006/main">
              <a:ext uri="{FF2B5EF4-FFF2-40B4-BE49-F238E27FC236}">
                <a16:creationId xmlns:a16="http://schemas.microsoft.com/office/drawing/2014/main" id="{81EEA325-90FE-4336-B262-C2CE9AEC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29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Allowed: +  −  ×  ÷  and parentheses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EC087-D189-4FE9-B64A-31C5B6E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2600"/>
            <a:ext cx="78105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D1730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B4016-721E-41E1-B7CC-6DAC3A34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7645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13" name="txt-455-225">
            <a:extLst xmlns:a="http://schemas.openxmlformats.org/drawingml/2006/main">
              <a:ext uri="{FF2B5EF4-FFF2-40B4-BE49-F238E27FC236}">
                <a16:creationId xmlns:a16="http://schemas.microsoft.com/office/drawing/2014/main" id="{406AF015-4647-43EF-A2E8-7164F6F6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NON-OBVIOUS CASE</a:t>
            </a:r>
          </a:p>
        </p:txBody>
      </p:sp>
      <p:sp>
        <p:nvSpPr>
          <p:cNvPr id="14" name="txt-445-286">
            <a:extLst xmlns:a="http://schemas.openxmlformats.org/drawingml/2006/main">
              <a:ext uri="{FF2B5EF4-FFF2-40B4-BE49-F238E27FC236}">
                <a16:creationId xmlns:a16="http://schemas.microsoft.com/office/drawing/2014/main" id="{976062C6-402B-4664-A357-0C3371D0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24150"/>
            <a:ext cx="690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3     3     8     8</a:t>
            </a:r>
          </a:p>
        </p:txBody>
      </p:sp>
      <p:sp>
        <p:nvSpPr>
          <p:cNvPr id="15" name="txt-445-382">
            <a:extLst xmlns:a="http://schemas.openxmlformats.org/drawingml/2006/main">
              <a:ext uri="{FF2B5EF4-FFF2-40B4-BE49-F238E27FC236}">
                <a16:creationId xmlns:a16="http://schemas.microsoft.com/office/drawing/2014/main" id="{C7A5B237-68EF-47EF-A341-0997FB9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38550"/>
            <a:ext cx="690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8 ÷ (3 − 8/3) = 24</a:t>
            </a:r>
          </a:p>
        </p:txBody>
      </p:sp>
      <p:sp>
        <p:nvSpPr>
          <p:cNvPr id="16" name="txt-485-492">
            <a:extLst xmlns:a="http://schemas.openxmlformats.org/drawingml/2006/main">
              <a:ext uri="{FF2B5EF4-FFF2-40B4-BE49-F238E27FC236}">
                <a16:creationId xmlns:a16="http://schemas.microsoft.com/office/drawing/2014/main" id="{4725DB72-A576-48FF-95CA-EE78B6B2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863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The winning route first creates 8/3, then 1/3. A greedy move can erase that fractional path.</a:t>
            </a:r>
          </a:p>
        </p:txBody>
      </p:sp>
    </p:spTree>
    <p:extLst>
      <p:ext uri="{BB962C8B-B14F-4D97-AF65-F5344CB8AC3E}">
        <p14:creationId xmlns:p14="http://schemas.microsoft.com/office/powerpoint/2010/main" val="1188532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B4F980FA-684B-495C-9666-2E3A249B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02 · INPUT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CD2CE6-669B-4C04-914B-087CE28E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The agent receives four numbers—and a strict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34DF2-4AD2-4DAA-B32F-CB6B9C03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BF25E21-BDCE-4405-8396-66C1D4B9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EFC56-7FF5-4D63-AD2C-7D5BF30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073B0-BF11-4FDD-999C-874B5016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7" name="txt-64-191">
            <a:extLst xmlns:a="http://schemas.openxmlformats.org/drawingml/2006/main">
              <a:ext uri="{FF2B5EF4-FFF2-40B4-BE49-F238E27FC236}">
                <a16:creationId xmlns:a16="http://schemas.microsoft.com/office/drawing/2014/main" id="{F58DE207-31E5-404E-965B-453E956A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INPUT FORMAT</a:t>
            </a:r>
          </a:p>
        </p:txBody>
      </p:sp>
      <p:sp>
        <p:nvSpPr>
          <p:cNvPr id="8" name="txt-54-236">
            <a:extLst xmlns:a="http://schemas.openxmlformats.org/drawingml/2006/main">
              <a:ext uri="{FF2B5EF4-FFF2-40B4-BE49-F238E27FC236}">
                <a16:creationId xmlns:a16="http://schemas.microsoft.com/office/drawing/2014/main" id="{E28BA1FD-51CD-42A9-B41F-B7A9B416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[ a, b, c, d ]</a:t>
            </a:r>
          </a:p>
        </p:txBody>
      </p:sp>
      <p:sp>
        <p:nvSpPr>
          <p:cNvPr id="9" name="txt-54-314">
            <a:extLst xmlns:a="http://schemas.openxmlformats.org/drawingml/2006/main">
              <a:ext uri="{FF2B5EF4-FFF2-40B4-BE49-F238E27FC236}">
                <a16:creationId xmlns:a16="http://schemas.microsoft.com/office/drawing/2014/main" id="{9DB578EB-D084-4B4D-B165-4A53F8AE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Four integers enter a fresh agent state. No previous puzzle history is reused.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758C5-6B0D-41CB-B2C2-F5B94CD6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190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1" name="txt-548-184">
            <a:extLst xmlns:a="http://schemas.openxmlformats.org/drawingml/2006/main">
              <a:ext uri="{FF2B5EF4-FFF2-40B4-BE49-F238E27FC236}">
                <a16:creationId xmlns:a16="http://schemas.microsoft.com/office/drawing/2014/main" id="{42301090-F34C-47CB-8550-F343603D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52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EXPERIMENT 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88234-4598-4A01-892C-E117CA55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6E6A6"/>
            </a:solidFill>
            <a:prstDash val="solid"/>
          </a:ln>
        </p:spPr>
      </p:sp>
      <p:sp>
        <p:nvSpPr>
          <p:cNvPr id="13" name="txt-558-237">
            <a:extLst xmlns:a="http://schemas.openxmlformats.org/drawingml/2006/main">
              <a:ext uri="{FF2B5EF4-FFF2-40B4-BE49-F238E27FC236}">
                <a16:creationId xmlns:a16="http://schemas.microsoft.com/office/drawing/2014/main" id="{22280C98-267B-49D6-8266-76CD570A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574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EASY</a:t>
            </a:r>
          </a:p>
        </p:txBody>
      </p:sp>
      <p:sp>
        <p:nvSpPr>
          <p:cNvPr id="14" name="txt-688-231">
            <a:extLst xmlns:a="http://schemas.openxmlformats.org/drawingml/2006/main">
              <a:ext uri="{FF2B5EF4-FFF2-40B4-BE49-F238E27FC236}">
                <a16:creationId xmlns:a16="http://schemas.microsoft.com/office/drawing/2014/main" id="{317CE10A-FA6A-436A-B6CB-02DE36A2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02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4 · 7 · 8 · 8</a:t>
            </a:r>
          </a:p>
        </p:txBody>
      </p:sp>
      <p:sp>
        <p:nvSpPr>
          <p:cNvPr id="15" name="txt-968-234">
            <a:extLst xmlns:a="http://schemas.openxmlformats.org/drawingml/2006/main">
              <a:ext uri="{FF2B5EF4-FFF2-40B4-BE49-F238E27FC236}">
                <a16:creationId xmlns:a16="http://schemas.microsoft.com/office/drawing/2014/main" id="{8F2C1CF6-6331-4149-B4D5-38AC1835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28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Baseline route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5F32B-DB91-4447-8EED-4616DB2A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17" name="txt-558-341">
            <a:extLst xmlns:a="http://schemas.openxmlformats.org/drawingml/2006/main">
              <a:ext uri="{FF2B5EF4-FFF2-40B4-BE49-F238E27FC236}">
                <a16:creationId xmlns:a16="http://schemas.microsoft.com/office/drawing/2014/main" id="{F6E831D1-F202-492F-8683-35915E92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480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MEDIUM</a:t>
            </a:r>
          </a:p>
        </p:txBody>
      </p:sp>
      <p:sp>
        <p:nvSpPr>
          <p:cNvPr id="18" name="txt-688-335">
            <a:extLst xmlns:a="http://schemas.openxmlformats.org/drawingml/2006/main">
              <a:ext uri="{FF2B5EF4-FFF2-40B4-BE49-F238E27FC236}">
                <a16:creationId xmlns:a16="http://schemas.microsoft.com/office/drawing/2014/main" id="{CA087B4C-9A54-4251-96C5-09F77CEE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1 · 5 · 5 · 5</a:t>
            </a:r>
          </a:p>
        </p:txBody>
      </p:sp>
      <p:sp>
        <p:nvSpPr>
          <p:cNvPr id="19" name="txt-968-338">
            <a:extLst xmlns:a="http://schemas.openxmlformats.org/drawingml/2006/main">
              <a:ext uri="{FF2B5EF4-FFF2-40B4-BE49-F238E27FC236}">
                <a16:creationId xmlns:a16="http://schemas.microsoft.com/office/drawing/2014/main" id="{305BEE72-C018-4F65-9106-AB0316BB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19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Fractional intermediate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F503A-BBBF-4449-AC4D-A2AC9CAE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D96CFF"/>
            </a:solidFill>
            <a:prstDash val="solid"/>
          </a:ln>
        </p:spPr>
      </p:sp>
      <p:sp>
        <p:nvSpPr>
          <p:cNvPr id="21" name="txt-558-445">
            <a:extLst xmlns:a="http://schemas.openxmlformats.org/drawingml/2006/main">
              <a:ext uri="{FF2B5EF4-FFF2-40B4-BE49-F238E27FC236}">
                <a16:creationId xmlns:a16="http://schemas.microsoft.com/office/drawing/2014/main" id="{B6DD45BC-1BD2-48F6-A01F-0A75A6B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386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HARD</a:t>
            </a:r>
          </a:p>
        </p:txBody>
      </p:sp>
      <p:sp>
        <p:nvSpPr>
          <p:cNvPr id="22" name="txt-688-439">
            <a:extLst xmlns:a="http://schemas.openxmlformats.org/drawingml/2006/main">
              <a:ext uri="{FF2B5EF4-FFF2-40B4-BE49-F238E27FC236}">
                <a16:creationId xmlns:a16="http://schemas.microsoft.com/office/drawing/2014/main" id="{E88A7110-3AED-4B80-BC81-6790A76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814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3 · 3 · 8 · 8</a:t>
            </a:r>
          </a:p>
        </p:txBody>
      </p:sp>
      <p:sp>
        <p:nvSpPr>
          <p:cNvPr id="23" name="txt-968-442">
            <a:extLst xmlns:a="http://schemas.openxmlformats.org/drawingml/2006/main">
              <a:ext uri="{FF2B5EF4-FFF2-40B4-BE49-F238E27FC236}">
                <a16:creationId xmlns:a16="http://schemas.microsoft.com/office/drawing/2014/main" id="{488EA9B7-6CBA-4174-A46A-7A32FF3C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10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Non-obvious 8/3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64439F-CC45-4719-9FBB-9F39A345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3905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25" name="txt-82-494">
            <a:extLst xmlns:a="http://schemas.openxmlformats.org/drawingml/2006/main">
              <a:ext uri="{FF2B5EF4-FFF2-40B4-BE49-F238E27FC236}">
                <a16:creationId xmlns:a16="http://schemas.microsoft.com/office/drawing/2014/main" id="{66094E35-5021-43BE-AF1F-78DE3E3F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RULE CONTRACT</a:t>
            </a:r>
          </a:p>
        </p:txBody>
      </p:sp>
      <p:sp>
        <p:nvSpPr>
          <p:cNvPr id="26" name="txt-82-531">
            <a:extLst xmlns:a="http://schemas.openxmlformats.org/drawingml/2006/main">
              <a:ext uri="{FF2B5EF4-FFF2-40B4-BE49-F238E27FC236}">
                <a16:creationId xmlns:a16="http://schemas.microsoft.com/office/drawing/2014/main" id="{464AF3A7-A177-42A3-8E61-032DEEFC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Use all 4 once  ·  + − × ÷  ·  target 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B4B61-C355-44E5-B9DB-73F74843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6381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1730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28" name="txt-570-565">
            <a:extLst xmlns:a="http://schemas.openxmlformats.org/drawingml/2006/main">
              <a:ext uri="{FF2B5EF4-FFF2-40B4-BE49-F238E27FC236}">
                <a16:creationId xmlns:a16="http://schemas.microsoft.com/office/drawing/2014/main" id="{6D2FE060-5B6B-491F-ABE4-6838F300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81625"/>
            <a:ext cx="596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8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Same inputs + same settings → fair CoT vs ToT comparison</a:t>
            </a:r>
          </a:p>
        </p:txBody>
      </p:sp>
    </p:spTree>
    <p:extLst>
      <p:ext uri="{BB962C8B-B14F-4D97-AF65-F5344CB8AC3E}">
        <p14:creationId xmlns:p14="http://schemas.microsoft.com/office/powerpoint/2010/main" val="1934839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366ECF56-87E8-4CF4-AE4A-AA0A9078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03 · RESEARCH DESIGN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6BC946-BB58-4A5C-928A-A90CD683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The experiment measures success—and the price of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979B5-D343-4D36-A413-E632D4E4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2358C11-529C-4337-827A-D3E3AC58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95315-9977-4E3D-A1B7-0AAE7E18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017BF-B5AF-412A-BC4D-B7B5B9E7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847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7" name="txt-64-191">
            <a:extLst xmlns:a="http://schemas.openxmlformats.org/drawingml/2006/main">
              <a:ext uri="{FF2B5EF4-FFF2-40B4-BE49-F238E27FC236}">
                <a16:creationId xmlns:a16="http://schemas.microsoft.com/office/drawing/2014/main" id="{7E226A05-BB56-4DF3-B04F-E3C493A3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RESEARCH QUESTION</a:t>
            </a:r>
          </a:p>
        </p:txBody>
      </p:sp>
      <p:sp>
        <p:nvSpPr>
          <p:cNvPr id="8" name="txt-54-244">
            <a:extLst xmlns:a="http://schemas.openxmlformats.org/drawingml/2006/main">
              <a:ext uri="{FF2B5EF4-FFF2-40B4-BE49-F238E27FC236}">
                <a16:creationId xmlns:a16="http://schemas.microsoft.com/office/drawing/2014/main" id="{2AD81D8C-33B7-4D21-B8C7-1C15A5DB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685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25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Does explicit branch generation, evaluation and pruning improve verified success on deceptive puzzles?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4512E-F61B-4864-9551-4F435AED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62125"/>
            <a:ext cx="3800475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10" name="txt-858-217">
            <a:extLst xmlns:a="http://schemas.openxmlformats.org/drawingml/2006/main">
              <a:ext uri="{FF2B5EF4-FFF2-40B4-BE49-F238E27FC236}">
                <a16:creationId xmlns:a16="http://schemas.microsoft.com/office/drawing/2014/main" id="{3FBB7FE6-EC08-47BE-A0E1-C3F978B0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66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HYPOTHESIS</a:t>
            </a:r>
          </a:p>
        </p:txBody>
      </p:sp>
      <p:sp>
        <p:nvSpPr>
          <p:cNvPr id="11" name="txt-858-267">
            <a:extLst xmlns:a="http://schemas.openxmlformats.org/drawingml/2006/main">
              <a:ext uri="{FF2B5EF4-FFF2-40B4-BE49-F238E27FC236}">
                <a16:creationId xmlns:a16="http://schemas.microsoft.com/office/drawing/2014/main" id="{063854B8-9A7B-40DA-925F-004B646D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095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1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ToT helps most when fractional states matter—at the cost of more nodes, tokens and latency.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2B068-907B-4E1A-AC6F-4014484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3" name="txt-54-480">
            <a:extLst xmlns:a="http://schemas.openxmlformats.org/drawingml/2006/main">
              <a:ext uri="{FF2B5EF4-FFF2-40B4-BE49-F238E27FC236}">
                <a16:creationId xmlns:a16="http://schemas.microsoft.com/office/drawing/2014/main" id="{6C66D8B0-1CD6-42CE-A7FC-70A201D1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4" name="txt-54-556">
            <a:extLst xmlns:a="http://schemas.openxmlformats.org/drawingml/2006/main">
              <a:ext uri="{FF2B5EF4-FFF2-40B4-BE49-F238E27FC236}">
                <a16:creationId xmlns:a16="http://schemas.microsoft.com/office/drawing/2014/main" id="{DD324D0D-708C-40C0-A70D-034A4997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Verified success</a:t>
            </a:r>
          </a:p>
        </p:txBody>
      </p:sp>
      <p:sp>
        <p:nvSpPr>
          <p:cNvPr id="15" name="txt-354-480">
            <a:extLst xmlns:a="http://schemas.openxmlformats.org/drawingml/2006/main">
              <a:ext uri="{FF2B5EF4-FFF2-40B4-BE49-F238E27FC236}">
                <a16:creationId xmlns:a16="http://schemas.microsoft.com/office/drawing/2014/main" id="{C73B0580-E6EB-47B2-BE2B-2D178EFE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txt-354-556">
            <a:extLst xmlns:a="http://schemas.openxmlformats.org/drawingml/2006/main">
              <a:ext uri="{FF2B5EF4-FFF2-40B4-BE49-F238E27FC236}">
                <a16:creationId xmlns:a16="http://schemas.microsoft.com/office/drawing/2014/main" id="{08942713-3251-4817-A694-C9A91AD4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959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Arithmetic steps</a:t>
            </a:r>
          </a:p>
        </p:txBody>
      </p:sp>
      <p:sp>
        <p:nvSpPr>
          <p:cNvPr id="17" name="txt-654-480">
            <a:extLst xmlns:a="http://schemas.openxmlformats.org/drawingml/2006/main">
              <a:ext uri="{FF2B5EF4-FFF2-40B4-BE49-F238E27FC236}">
                <a16:creationId xmlns:a16="http://schemas.microsoft.com/office/drawing/2014/main" id="{3883DE29-5DB9-4427-99A8-B931C058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720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N</a:t>
            </a:r>
          </a:p>
        </p:txBody>
      </p:sp>
      <p:sp>
        <p:nvSpPr>
          <p:cNvPr id="18" name="txt-654-556">
            <a:extLst xmlns:a="http://schemas.openxmlformats.org/drawingml/2006/main">
              <a:ext uri="{FF2B5EF4-FFF2-40B4-BE49-F238E27FC236}">
                <a16:creationId xmlns:a16="http://schemas.microsoft.com/office/drawing/2014/main" id="{60A4861A-2021-4AFA-B5EB-6B4358F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959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Nodes explored</a:t>
            </a:r>
          </a:p>
        </p:txBody>
      </p:sp>
      <p:sp>
        <p:nvSpPr>
          <p:cNvPr id="19" name="txt-954-480">
            <a:extLst xmlns:a="http://schemas.openxmlformats.org/drawingml/2006/main">
              <a:ext uri="{FF2B5EF4-FFF2-40B4-BE49-F238E27FC236}">
                <a16:creationId xmlns:a16="http://schemas.microsoft.com/office/drawing/2014/main" id="{A31F1176-C779-4CD7-A104-35601523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720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ms</a:t>
            </a:r>
          </a:p>
        </p:txBody>
      </p:sp>
      <p:sp>
        <p:nvSpPr>
          <p:cNvPr id="20" name="txt-954-556">
            <a:extLst xmlns:a="http://schemas.openxmlformats.org/drawingml/2006/main">
              <a:ext uri="{FF2B5EF4-FFF2-40B4-BE49-F238E27FC236}">
                <a16:creationId xmlns:a16="http://schemas.microsoft.com/office/drawing/2014/main" id="{C0F7B415-BC52-410E-9967-64F63E39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959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Latency + tokens</a:t>
            </a:r>
          </a:p>
        </p:txBody>
      </p:sp>
    </p:spTree>
    <p:extLst>
      <p:ext uri="{BB962C8B-B14F-4D97-AF65-F5344CB8AC3E}">
        <p14:creationId xmlns:p14="http://schemas.microsoft.com/office/powerpoint/2010/main" val="16823351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2EC50CEA-0845-4D8C-8E16-ACFA556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04 · AGENTIC AI 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B4F9BA-F944-45DF-B934-495ED095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Probabilistic reasoning is separated from deterministic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4CA19-DB39-4C8F-A75A-36A3E4AD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79096C6-9A40-41DD-9E0F-A29EB855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636BA-BF8B-496C-AF1D-DB9DE768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A9F38-3AA7-4C48-905F-C5F78318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952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94A3C7"/>
            </a:solidFill>
            <a:prstDash val="solid"/>
          </a:ln>
        </p:spPr>
      </p:sp>
      <p:sp>
        <p:nvSpPr>
          <p:cNvPr id="7" name="txt-64-212">
            <a:extLst xmlns:a="http://schemas.openxmlformats.org/drawingml/2006/main">
              <a:ext uri="{FF2B5EF4-FFF2-40B4-BE49-F238E27FC236}">
                <a16:creationId xmlns:a16="http://schemas.microsoft.com/office/drawing/2014/main" id="{2D41D854-97E9-4500-9082-3773E24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8" name="txt-54-253">
            <a:extLst xmlns:a="http://schemas.openxmlformats.org/drawingml/2006/main">
              <a:ext uri="{FF2B5EF4-FFF2-40B4-BE49-F238E27FC236}">
                <a16:creationId xmlns:a16="http://schemas.microsoft.com/office/drawing/2014/main" id="{906B46E9-C570-4D7F-B019-084A9436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Four</a:t>
            </a:r>
          </a:p>
          <a:p xmlns:a="http://schemas.openxmlformats.org/drawingml/2006/main">
            <a:pPr algn="l">
              <a:defRPr sz="21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numbers</a:t>
            </a:r>
          </a:p>
        </p:txBody>
      </p:sp>
      <p:sp>
        <p:nvSpPr>
          <p:cNvPr id="9" name="txt-206-267">
            <a:extLst xmlns:a="http://schemas.openxmlformats.org/drawingml/2006/main">
              <a:ext uri="{FF2B5EF4-FFF2-40B4-BE49-F238E27FC236}">
                <a16:creationId xmlns:a16="http://schemas.microsoft.com/office/drawing/2014/main" id="{A4551F68-E538-4F2B-B2AB-D5D062D9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431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B8850-4908-420E-8A5D-A1802F5A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76425"/>
            <a:ext cx="247650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11" name="txt-298-220">
            <a:extLst xmlns:a="http://schemas.openxmlformats.org/drawingml/2006/main">
              <a:ext uri="{FF2B5EF4-FFF2-40B4-BE49-F238E27FC236}">
                <a16:creationId xmlns:a16="http://schemas.microsoft.com/office/drawing/2014/main" id="{9E9586FC-9998-4956-8F1E-C582C057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ORCHESTRATOR</a:t>
            </a:r>
          </a:p>
        </p:txBody>
      </p:sp>
      <p:sp>
        <p:nvSpPr>
          <p:cNvPr id="12" name="txt-298-265">
            <a:extLst xmlns:a="http://schemas.openxmlformats.org/drawingml/2006/main">
              <a:ext uri="{FF2B5EF4-FFF2-40B4-BE49-F238E27FC236}">
                <a16:creationId xmlns:a16="http://schemas.microsoft.com/office/drawing/2014/main" id="{C12935CB-374A-481C-8AD7-43375D58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241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33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Route method</a:t>
            </a:r>
          </a:p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Maintain state</a:t>
            </a:r>
          </a:p>
        </p:txBody>
      </p:sp>
      <p:sp>
        <p:nvSpPr>
          <p:cNvPr id="13" name="txt-552-216">
            <a:extLst xmlns:a="http://schemas.openxmlformats.org/drawingml/2006/main">
              <a:ext uri="{FF2B5EF4-FFF2-40B4-BE49-F238E27FC236}">
                <a16:creationId xmlns:a16="http://schemas.microsoft.com/office/drawing/2014/main" id="{86B459E9-88D8-43C4-A40B-14E2F3F3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57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↗</a:t>
            </a:r>
          </a:p>
        </p:txBody>
      </p:sp>
      <p:sp>
        <p:nvSpPr>
          <p:cNvPr id="14" name="txt-552-324">
            <a:extLst xmlns:a="http://schemas.openxmlformats.org/drawingml/2006/main">
              <a:ext uri="{FF2B5EF4-FFF2-40B4-BE49-F238E27FC236}">
                <a16:creationId xmlns:a16="http://schemas.microsoft.com/office/drawing/2014/main" id="{0290B212-C6D2-4DFA-ABB0-CABB574D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52DF1-D98F-418B-B679-5427D7D0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1730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6" name="txt-652-196">
            <a:extLst xmlns:a="http://schemas.openxmlformats.org/drawingml/2006/main">
              <a:ext uri="{FF2B5EF4-FFF2-40B4-BE49-F238E27FC236}">
                <a16:creationId xmlns:a16="http://schemas.microsoft.com/office/drawing/2014/main" id="{F5B004CC-3C8A-466D-BDF9-5EF35598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LINEAR AGENT</a:t>
            </a:r>
          </a:p>
        </p:txBody>
      </p:sp>
      <p:sp>
        <p:nvSpPr>
          <p:cNvPr id="17" name="txt-652-240">
            <a:extLst xmlns:a="http://schemas.openxmlformats.org/drawingml/2006/main">
              <a:ext uri="{FF2B5EF4-FFF2-40B4-BE49-F238E27FC236}">
                <a16:creationId xmlns:a16="http://schemas.microsoft.com/office/drawing/2014/main" id="{A6E3F05D-5415-43AC-878F-21117D4A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One trajectory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ADF4D-EE6F-4B8C-B695-8408F46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86100"/>
            <a:ext cx="2428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19" name="txt-652-346">
            <a:extLst xmlns:a="http://schemas.openxmlformats.org/drawingml/2006/main">
              <a:ext uri="{FF2B5EF4-FFF2-40B4-BE49-F238E27FC236}">
                <a16:creationId xmlns:a16="http://schemas.microsoft.com/office/drawing/2014/main" id="{DD0CC7ED-A6F0-4173-9142-508B62EC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956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ToT AGENT</a:t>
            </a:r>
          </a:p>
        </p:txBody>
      </p:sp>
      <p:sp>
        <p:nvSpPr>
          <p:cNvPr id="20" name="txt-652-390">
            <a:extLst xmlns:a="http://schemas.openxmlformats.org/drawingml/2006/main">
              <a:ext uri="{FF2B5EF4-FFF2-40B4-BE49-F238E27FC236}">
                <a16:creationId xmlns:a16="http://schemas.microsoft.com/office/drawing/2014/main" id="{1F3689F9-A89E-479A-9AA2-715AEF57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97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Branch · score · prune</a:t>
            </a:r>
          </a:p>
        </p:txBody>
      </p:sp>
      <p:sp>
        <p:nvSpPr>
          <p:cNvPr id="21" name="txt-900-281">
            <a:extLst xmlns:a="http://schemas.openxmlformats.org/drawingml/2006/main">
              <a:ext uri="{FF2B5EF4-FFF2-40B4-BE49-F238E27FC236}">
                <a16:creationId xmlns:a16="http://schemas.microsoft.com/office/drawing/2014/main" id="{E550B8DC-5E8C-4B27-B80D-452EA18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765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B65134-B8A3-4DA8-B003-1E2EEF51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62175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D1730"/>
          </a:solidFill>
          <a:ln xmlns:a="http://schemas.openxmlformats.org/drawingml/2006/main" w="13335">
            <a:solidFill>
              <a:srgbClr val="36E6A6"/>
            </a:solidFill>
            <a:prstDash val="solid"/>
          </a:ln>
        </p:spPr>
      </p:sp>
      <p:sp>
        <p:nvSpPr>
          <p:cNvPr id="23" name="txt-1000-252">
            <a:extLst xmlns:a="http://schemas.openxmlformats.org/drawingml/2006/main">
              <a:ext uri="{FF2B5EF4-FFF2-40B4-BE49-F238E27FC236}">
                <a16:creationId xmlns:a16="http://schemas.microsoft.com/office/drawing/2014/main" id="{5ACBD440-BCD8-40A2-8D3A-4BEBE2D1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PYTHON TOOL</a:t>
            </a:r>
          </a:p>
        </p:txBody>
      </p:sp>
      <p:sp>
        <p:nvSpPr>
          <p:cNvPr id="24" name="txt-1000-294">
            <a:extLst xmlns:a="http://schemas.openxmlformats.org/drawingml/2006/main">
              <a:ext uri="{FF2B5EF4-FFF2-40B4-BE49-F238E27FC236}">
                <a16:creationId xmlns:a16="http://schemas.microsoft.com/office/drawing/2014/main" id="{8A728911-517A-461A-8C7C-9442E294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003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Exact validator</a:t>
            </a:r>
          </a:p>
        </p:txBody>
      </p:sp>
      <p:sp>
        <p:nvSpPr>
          <p:cNvPr id="25" name="txt-1000-340">
            <a:extLst xmlns:a="http://schemas.openxmlformats.org/drawingml/2006/main">
              <a:ext uri="{FF2B5EF4-FFF2-40B4-BE49-F238E27FC236}">
                <a16:creationId xmlns:a16="http://schemas.microsoft.com/office/drawing/2014/main" id="{B77F4DC0-52E5-4F33-AB7B-21C78479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385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use once · equal 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66F2B-5234-48B1-8584-EC8D7B8A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90678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026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27" name="txt-304-528">
            <a:extLst xmlns:a="http://schemas.openxmlformats.org/drawingml/2006/main">
              <a:ext uri="{FF2B5EF4-FFF2-40B4-BE49-F238E27FC236}">
                <a16:creationId xmlns:a16="http://schemas.microsoft.com/office/drawing/2014/main" id="{9FAC9BA5-C471-4399-A72B-01EEF102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29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Qwen proposes</a:t>
            </a:r>
          </a:p>
        </p:txBody>
      </p:sp>
      <p:sp>
        <p:nvSpPr>
          <p:cNvPr id="28" name="txt-528-528">
            <a:extLst xmlns:a="http://schemas.openxmlformats.org/drawingml/2006/main">
              <a:ext uri="{FF2B5EF4-FFF2-40B4-BE49-F238E27FC236}">
                <a16:creationId xmlns:a16="http://schemas.microsoft.com/office/drawing/2014/main" id="{E35C4047-FFE7-44AC-821C-E55A0FC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LangGraph controls</a:t>
            </a:r>
          </a:p>
        </p:txBody>
      </p:sp>
      <p:sp>
        <p:nvSpPr>
          <p:cNvPr id="29" name="txt-787-528">
            <a:extLst xmlns:a="http://schemas.openxmlformats.org/drawingml/2006/main">
              <a:ext uri="{FF2B5EF4-FFF2-40B4-BE49-F238E27FC236}">
                <a16:creationId xmlns:a16="http://schemas.microsoft.com/office/drawing/2014/main" id="{99D45F4C-E4F7-42DC-97D8-CBE2F791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0292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Python proves</a:t>
            </a:r>
          </a:p>
        </p:txBody>
      </p:sp>
      <p:sp>
        <p:nvSpPr>
          <p:cNvPr id="30" name="txt-1007-528">
            <a:extLst xmlns:a="http://schemas.openxmlformats.org/drawingml/2006/main">
              <a:ext uri="{FF2B5EF4-FFF2-40B4-BE49-F238E27FC236}">
                <a16:creationId xmlns:a16="http://schemas.microsoft.com/office/drawing/2014/main" id="{EAA955E0-193F-416A-BD56-E192BE32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029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Metrics compare</a:t>
            </a:r>
          </a:p>
        </p:txBody>
      </p:sp>
    </p:spTree>
    <p:extLst>
      <p:ext uri="{BB962C8B-B14F-4D97-AF65-F5344CB8AC3E}">
        <p14:creationId xmlns:p14="http://schemas.microsoft.com/office/powerpoint/2010/main" val="2084376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F5300101-250F-44F0-A1C3-691A9A67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05 · METHODOLOGY &amp; WORKFLOW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CEC2C13-E058-4B99-B6C4-0EE2680F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Feedback transforms a prompt into an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82D7A-2545-4B2F-A26E-D36E4DB7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412C936-DD54-4C39-B0D4-6E286C6D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FE340-D137-4086-891C-2A3DE83D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txt-66-205">
            <a:extLst xmlns:a="http://schemas.openxmlformats.org/drawingml/2006/main">
              <a:ext uri="{FF2B5EF4-FFF2-40B4-BE49-F238E27FC236}">
                <a16:creationId xmlns:a16="http://schemas.microsoft.com/office/drawing/2014/main" id="{C95593C1-56B8-401F-B93A-A8FDBC6B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PLAN</a:t>
            </a:r>
          </a:p>
        </p:txBody>
      </p:sp>
      <p:sp>
        <p:nvSpPr>
          <p:cNvPr id="7" name="txt-66-258">
            <a:extLst xmlns:a="http://schemas.openxmlformats.org/drawingml/2006/main">
              <a:ext uri="{FF2B5EF4-FFF2-40B4-BE49-F238E27FC236}">
                <a16:creationId xmlns:a16="http://schemas.microsoft.com/office/drawing/2014/main" id="{FBFE2FCB-E974-4886-B23C-34CD06E0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79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Generate candidate</a:t>
            </a:r>
          </a:p>
          <a:p xmlns:a="http://schemas.openxmlformats.org/drawingml/2006/main">
            <a:pPr algn="l">
              <a:def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arithmetic actions</a:t>
            </a:r>
          </a:p>
        </p:txBody>
      </p:sp>
      <p:sp>
        <p:nvSpPr>
          <p:cNvPr id="8" name="txt-300-214">
            <a:extLst xmlns:a="http://schemas.openxmlformats.org/drawingml/2006/main">
              <a:ext uri="{FF2B5EF4-FFF2-40B4-BE49-F238E27FC236}">
                <a16:creationId xmlns:a16="http://schemas.microsoft.com/office/drawing/2014/main" id="{455EF052-1A68-4BC8-8FAC-322BE4D0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txt-352-272">
            <a:extLst xmlns:a="http://schemas.openxmlformats.org/drawingml/2006/main">
              <a:ext uri="{FF2B5EF4-FFF2-40B4-BE49-F238E27FC236}">
                <a16:creationId xmlns:a16="http://schemas.microsoft.com/office/drawing/2014/main" id="{8F48BAFF-2242-491D-A11F-EAA23945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90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0" name="txt-426-205">
            <a:extLst xmlns:a="http://schemas.openxmlformats.org/drawingml/2006/main">
              <a:ext uri="{FF2B5EF4-FFF2-40B4-BE49-F238E27FC236}">
                <a16:creationId xmlns:a16="http://schemas.microsoft.com/office/drawing/2014/main" id="{7EB40548-AAB1-46C4-BAFC-91B9711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ACT</a:t>
            </a:r>
          </a:p>
        </p:txBody>
      </p:sp>
      <p:sp>
        <p:nvSpPr>
          <p:cNvPr id="11" name="txt-426-258">
            <a:extLst xmlns:a="http://schemas.openxmlformats.org/drawingml/2006/main">
              <a:ext uri="{FF2B5EF4-FFF2-40B4-BE49-F238E27FC236}">
                <a16:creationId xmlns:a16="http://schemas.microsoft.com/office/drawing/2014/main" id="{8A700954-4A4D-49DA-8A39-67A67888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5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Apply exact operations</a:t>
            </a:r>
          </a:p>
          <a:p xmlns:a="http://schemas.openxmlformats.org/drawingml/2006/main">
            <a:pPr algn="l">
              <a:def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to current state</a:t>
            </a:r>
          </a:p>
        </p:txBody>
      </p:sp>
      <p:sp>
        <p:nvSpPr>
          <p:cNvPr id="12" name="txt-660-214">
            <a:extLst xmlns:a="http://schemas.openxmlformats.org/drawingml/2006/main">
              <a:ext uri="{FF2B5EF4-FFF2-40B4-BE49-F238E27FC236}">
                <a16:creationId xmlns:a16="http://schemas.microsoft.com/office/drawing/2014/main" id="{3B2E1826-5C37-4BF7-AC54-09F2E821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txt-712-272">
            <a:extLst xmlns:a="http://schemas.openxmlformats.org/drawingml/2006/main">
              <a:ext uri="{FF2B5EF4-FFF2-40B4-BE49-F238E27FC236}">
                <a16:creationId xmlns:a16="http://schemas.microsoft.com/office/drawing/2014/main" id="{B7292062-6128-4ABD-8941-DCBDB354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0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4" name="txt-786-205">
            <a:extLst xmlns:a="http://schemas.openxmlformats.org/drawingml/2006/main">
              <a:ext uri="{FF2B5EF4-FFF2-40B4-BE49-F238E27FC236}">
                <a16:creationId xmlns:a16="http://schemas.microsoft.com/office/drawing/2014/main" id="{0F61C1FF-8D6E-4E8C-AC1A-B9F9B5C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EVALUATE</a:t>
            </a:r>
          </a:p>
        </p:txBody>
      </p:sp>
      <p:sp>
        <p:nvSpPr>
          <p:cNvPr id="15" name="txt-786-258">
            <a:extLst xmlns:a="http://schemas.openxmlformats.org/drawingml/2006/main">
              <a:ext uri="{FF2B5EF4-FFF2-40B4-BE49-F238E27FC236}">
                <a16:creationId xmlns:a16="http://schemas.microsoft.com/office/drawing/2014/main" id="{D40EF65C-C894-485D-98FD-7F327867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94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Score states and</a:t>
            </a:r>
          </a:p>
          <a:p xmlns:a="http://schemas.openxmlformats.org/drawingml/2006/main">
            <a:pPr algn="l">
              <a:def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observe tool feedback</a:t>
            </a:r>
          </a:p>
        </p:txBody>
      </p:sp>
      <p:sp>
        <p:nvSpPr>
          <p:cNvPr id="16" name="txt-1036-214">
            <a:extLst xmlns:a="http://schemas.openxmlformats.org/drawingml/2006/main">
              <a:ext uri="{FF2B5EF4-FFF2-40B4-BE49-F238E27FC236}">
                <a16:creationId xmlns:a16="http://schemas.microsoft.com/office/drawing/2014/main" id="{05FC865B-244D-4F8F-8329-4C87BC7F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383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txt-1088-272">
            <a:extLst xmlns:a="http://schemas.openxmlformats.org/drawingml/2006/main">
              <a:ext uri="{FF2B5EF4-FFF2-40B4-BE49-F238E27FC236}">
                <a16:creationId xmlns:a16="http://schemas.microsoft.com/office/drawing/2014/main" id="{26C744CF-1883-43DE-996A-1CD644F1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908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8" name="txt-1120-205">
            <a:extLst xmlns:a="http://schemas.openxmlformats.org/drawingml/2006/main">
              <a:ext uri="{FF2B5EF4-FFF2-40B4-BE49-F238E27FC236}">
                <a16:creationId xmlns:a16="http://schemas.microsoft.com/office/drawing/2014/main" id="{446E45B0-6781-4CFB-8F39-958BB3FF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526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ADAPT</a:t>
            </a:r>
          </a:p>
        </p:txBody>
      </p:sp>
      <p:sp>
        <p:nvSpPr>
          <p:cNvPr id="19" name="txt-1110-258">
            <a:extLst xmlns:a="http://schemas.openxmlformats.org/drawingml/2006/main">
              <a:ext uri="{FF2B5EF4-FFF2-40B4-BE49-F238E27FC236}">
                <a16:creationId xmlns:a16="http://schemas.microsoft.com/office/drawing/2014/main" id="{A2B3825C-0D8D-4793-B5B9-3445EE30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57450"/>
            <a:ext cx="123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Prune +</a:t>
            </a:r>
          </a:p>
          <a:p xmlns:a="http://schemas.openxmlformats.org/drawingml/2006/main">
            <a:pPr algn="r">
              <a:defRPr sz="17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expand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C36C9-221F-4B84-A2AE-CF6CA32D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21" name="txt-66-448">
            <a:extLst xmlns:a="http://schemas.openxmlformats.org/drawingml/2006/main">
              <a:ext uri="{FF2B5EF4-FFF2-40B4-BE49-F238E27FC236}">
                <a16:creationId xmlns:a16="http://schemas.microsoft.com/office/drawing/2014/main" id="{7FDBB25B-D474-497A-BA0A-6DCEFD52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STATE</a:t>
            </a:r>
          </a:p>
        </p:txBody>
      </p:sp>
      <p:sp>
        <p:nvSpPr>
          <p:cNvPr id="22" name="txt-66-487">
            <a:extLst xmlns:a="http://schemas.openxmlformats.org/drawingml/2006/main">
              <a:ext uri="{FF2B5EF4-FFF2-40B4-BE49-F238E27FC236}">
                <a16:creationId xmlns:a16="http://schemas.microsoft.com/office/drawing/2014/main" id="{681488B2-FD03-4457-AA30-FCCF94AD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386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current values  /  path  /  depth  /  scores</a:t>
            </a:r>
          </a:p>
        </p:txBody>
      </p:sp>
      <p:sp>
        <p:nvSpPr>
          <p:cNvPr id="23" name="txt-700-448">
            <a:extLst xmlns:a="http://schemas.openxmlformats.org/drawingml/2006/main">
              <a:ext uri="{FF2B5EF4-FFF2-40B4-BE49-F238E27FC236}">
                <a16:creationId xmlns:a16="http://schemas.microsoft.com/office/drawing/2014/main" id="{30F72D6E-1EF6-46A6-B95A-F8A82BD7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BOUNDED AUTONOMY</a:t>
            </a:r>
          </a:p>
          <a:p xmlns:a="http://schemas.openxmlformats.org/drawingml/2006/main">
            <a:pPr algn="l">
              <a:defRPr sz="1350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beam width  /  maximum depth  /  stop condition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FAE0D-8BA9-44F7-ADF8-B4CACF00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10299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25" name="txt-90-583">
            <a:extLst xmlns:a="http://schemas.openxmlformats.org/drawingml/2006/main">
              <a:ext uri="{FF2B5EF4-FFF2-40B4-BE49-F238E27FC236}">
                <a16:creationId xmlns:a16="http://schemas.microsoft.com/office/drawing/2014/main" id="{4A4C90CB-29B2-48CA-B634-0988E67C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PLAN  →  ACT  →  EVALUATE  →  ADAPT  →  REPEAT</a:t>
            </a:r>
          </a:p>
        </p:txBody>
      </p:sp>
    </p:spTree>
    <p:extLst>
      <p:ext uri="{BB962C8B-B14F-4D97-AF65-F5344CB8AC3E}">
        <p14:creationId xmlns:p14="http://schemas.microsoft.com/office/powerpoint/2010/main" val="157547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D54DC451-E8F9-4BA5-BA68-5138CE0F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05 · METHODOLOGY &amp; WORKFLOW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D50016-AB10-43FE-BC1C-01F25982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One trajectory is fast, cheap—and fragile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B1DE4-3E44-4729-8053-18937673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C43804E-F03E-4157-AFA5-F7121E94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362A0-94C0-4679-9CBC-1F56D5FC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B3955-8E66-4198-BA97-EF7B4F2A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847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94A3C7"/>
            </a:solidFill>
            <a:prstDash val="solid"/>
          </a:ln>
        </p:spPr>
      </p:sp>
      <p:sp>
        <p:nvSpPr>
          <p:cNvPr id="7" name="txt-64-197">
            <a:extLst xmlns:a="http://schemas.openxmlformats.org/drawingml/2006/main">
              <a:ext uri="{FF2B5EF4-FFF2-40B4-BE49-F238E27FC236}">
                <a16:creationId xmlns:a16="http://schemas.microsoft.com/office/drawing/2014/main" id="{A648ED80-B0BA-4FD3-A6C4-6B2B8AD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CONTROL CONDITION</a:t>
            </a:r>
          </a:p>
        </p:txBody>
      </p:sp>
      <p:sp>
        <p:nvSpPr>
          <p:cNvPr id="8" name="txt-64-265">
            <a:extLst xmlns:a="http://schemas.openxmlformats.org/drawingml/2006/main">
              <a:ext uri="{FF2B5EF4-FFF2-40B4-BE49-F238E27FC236}">
                <a16:creationId xmlns:a16="http://schemas.microsoft.com/office/drawing/2014/main" id="{6A74F103-593D-4ACB-9BC5-52D29648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txt-140-266">
            <a:extLst xmlns:a="http://schemas.openxmlformats.org/drawingml/2006/main">
              <a:ext uri="{FF2B5EF4-FFF2-40B4-BE49-F238E27FC236}">
                <a16:creationId xmlns:a16="http://schemas.microsoft.com/office/drawing/2014/main" id="{DCD112EC-8B07-4B52-AAC9-FC4DEFDA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3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Four numbers</a:t>
            </a:r>
          </a:p>
        </p:txBody>
      </p:sp>
      <p:sp>
        <p:nvSpPr>
          <p:cNvPr id="10" name="txt-140-309">
            <a:extLst xmlns:a="http://schemas.openxmlformats.org/drawingml/2006/main">
              <a:ext uri="{FF2B5EF4-FFF2-40B4-BE49-F238E27FC236}">
                <a16:creationId xmlns:a16="http://schemas.microsoft.com/office/drawing/2014/main" id="{A5CCEBE9-C966-4078-BEA0-08976CA0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A single puzzle state enters the model.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772EC-84DC-4369-9340-A73A2330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33725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2" name="txt-64-390">
            <a:extLst xmlns:a="http://schemas.openxmlformats.org/drawingml/2006/main">
              <a:ext uri="{FF2B5EF4-FFF2-40B4-BE49-F238E27FC236}">
                <a16:creationId xmlns:a16="http://schemas.microsoft.com/office/drawing/2014/main" id="{B21E1CCD-EAC1-4E59-8081-76752201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txt-140-391">
            <a:extLst xmlns:a="http://schemas.openxmlformats.org/drawingml/2006/main">
              <a:ext uri="{FF2B5EF4-FFF2-40B4-BE49-F238E27FC236}">
                <a16:creationId xmlns:a16="http://schemas.microsoft.com/office/drawing/2014/main" id="{5526C439-49D6-4950-91DD-95FF6B2F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242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One Qwen attempt</a:t>
            </a:r>
          </a:p>
        </p:txBody>
      </p:sp>
      <p:sp>
        <p:nvSpPr>
          <p:cNvPr id="14" name="txt-140-434">
            <a:extLst xmlns:a="http://schemas.openxmlformats.org/drawingml/2006/main">
              <a:ext uri="{FF2B5EF4-FFF2-40B4-BE49-F238E27FC236}">
                <a16:creationId xmlns:a16="http://schemas.microsoft.com/office/drawing/2014/main" id="{56BB09F4-C6F3-4090-B5E2-E357D2DD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No instruction to branch or backtrack.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73B07-7417-4E1A-8564-C3E5DD76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3243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6" name="txt-64-515">
            <a:extLst xmlns:a="http://schemas.openxmlformats.org/drawingml/2006/main">
              <a:ext uri="{FF2B5EF4-FFF2-40B4-BE49-F238E27FC236}">
                <a16:creationId xmlns:a16="http://schemas.microsoft.com/office/drawing/2014/main" id="{AACCCC20-8B78-4351-8A9F-0D36757E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txt-140-516">
            <a:extLst xmlns:a="http://schemas.openxmlformats.org/drawingml/2006/main">
              <a:ext uri="{FF2B5EF4-FFF2-40B4-BE49-F238E27FC236}">
                <a16:creationId xmlns:a16="http://schemas.microsoft.com/office/drawing/2014/main" id="{C4DD1298-2FD3-425E-A9A4-79611BEE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Exact validation</a:t>
            </a:r>
          </a:p>
        </p:txBody>
      </p:sp>
      <p:sp>
        <p:nvSpPr>
          <p:cNvPr id="18" name="txt-140-559">
            <a:extLst xmlns:a="http://schemas.openxmlformats.org/drawingml/2006/main">
              <a:ext uri="{FF2B5EF4-FFF2-40B4-BE49-F238E27FC236}">
                <a16:creationId xmlns:a16="http://schemas.microsoft.com/office/drawing/2014/main" id="{118464AA-EB66-4ABD-8F99-93426060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24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Accept only a valid expression equalling 24.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3E960-3CC0-4C1F-9FBD-D8B1194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518160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D1730"/>
          </a:solidFill>
          <a:ln xmlns:a="http://schemas.openxmlformats.org/drawingml/2006/main" w="13335">
            <a:solidFill>
              <a:srgbClr val="FF6B7A"/>
            </a:solidFill>
            <a:prstDash val="solid"/>
          </a:ln>
        </p:spPr>
      </p:sp>
      <p:sp>
        <p:nvSpPr>
          <p:cNvPr id="20" name="txt-716-231">
            <a:extLst xmlns:a="http://schemas.openxmlformats.org/drawingml/2006/main">
              <a:ext uri="{FF2B5EF4-FFF2-40B4-BE49-F238E27FC236}">
                <a16:creationId xmlns:a16="http://schemas.microsoft.com/office/drawing/2014/main" id="{D6D3F5FB-9578-40E1-9A8B-ABD49E39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02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rPr>
              <a:t>IRREVERSIBLE COMMITMENT</a:t>
            </a:r>
          </a:p>
        </p:txBody>
      </p:sp>
      <p:sp>
        <p:nvSpPr>
          <p:cNvPr id="21" name="txt-716-295">
            <a:extLst xmlns:a="http://schemas.openxmlformats.org/drawingml/2006/main">
              <a:ext uri="{FF2B5EF4-FFF2-40B4-BE49-F238E27FC236}">
                <a16:creationId xmlns:a16="http://schemas.microsoft.com/office/drawing/2014/main" id="{90FAFA3D-143F-4932-934F-3CF7B611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A plausible first move can eliminate the only winning path.</a:t>
            </a:r>
          </a:p>
        </p:txBody>
      </p:sp>
      <p:sp>
        <p:nvSpPr>
          <p:cNvPr id="22" name="txt-716-458">
            <a:extLst xmlns:a="http://schemas.openxmlformats.org/drawingml/2006/main">
              <a:ext uri="{FF2B5EF4-FFF2-40B4-BE49-F238E27FC236}">
                <a16:creationId xmlns:a16="http://schemas.microsoft.com/office/drawing/2014/main" id="{85EC01AD-1AB2-495D-A4AE-BCBDDBC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Measured advantage</a:t>
            </a:r>
          </a:p>
        </p:txBody>
      </p:sp>
      <p:sp>
        <p:nvSpPr>
          <p:cNvPr id="23" name="txt-716-495">
            <a:extLst xmlns:a="http://schemas.openxmlformats.org/drawingml/2006/main">
              <a:ext uri="{FF2B5EF4-FFF2-40B4-BE49-F238E27FC236}">
                <a16:creationId xmlns:a16="http://schemas.microsoft.com/office/drawing/2014/main" id="{12DB9843-F32C-4555-A42B-0D5F7A36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Lower token and latency cost</a:t>
            </a:r>
          </a:p>
        </p:txBody>
      </p:sp>
      <p:sp>
        <p:nvSpPr>
          <p:cNvPr id="24" name="txt-716-602">
            <a:extLst xmlns:a="http://schemas.openxmlformats.org/drawingml/2006/main">
              <a:ext uri="{FF2B5EF4-FFF2-40B4-BE49-F238E27FC236}">
                <a16:creationId xmlns:a16="http://schemas.microsoft.com/office/drawing/2014/main" id="{B540ACF0-F8AC-4C5B-A4DD-6F2BE3F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734050"/>
            <a:ext cx="4438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2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Visible arithmetic trace only—never private hidden chain-of-thought.</a:t>
            </a:r>
          </a:p>
        </p:txBody>
      </p:sp>
    </p:spTree>
    <p:extLst>
      <p:ext uri="{BB962C8B-B14F-4D97-AF65-F5344CB8AC3E}">
        <p14:creationId xmlns:p14="http://schemas.microsoft.com/office/powerpoint/2010/main" val="1452619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e419ba24f4d7d"/>
          <a:srcRect xmlns:a="http://schemas.openxmlformats.org/drawingml/2006/main" l="23423" t="0" r="234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54-32">
            <a:extLst xmlns:a="http://schemas.openxmlformats.org/drawingml/2006/main">
              <a:ext uri="{FF2B5EF4-FFF2-40B4-BE49-F238E27FC236}">
                <a16:creationId xmlns:a16="http://schemas.microsoft.com/office/drawing/2014/main" id="{877346C4-27A5-4275-91E7-4B571BC5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05 · METHODOLOGY · TREE-OF-THOUGHT</a:t>
            </a:r>
          </a:p>
        </p:txBody>
      </p:sp>
      <p:sp>
        <p:nvSpPr>
          <p:cNvPr id="3" name="txt-54-79">
            <a:extLst xmlns:a="http://schemas.openxmlformats.org/drawingml/2006/main">
              <a:ext uri="{FF2B5EF4-FFF2-40B4-BE49-F238E27FC236}">
                <a16:creationId xmlns:a16="http://schemas.microsoft.com/office/drawing/2014/main" id="{25599677-5733-4977-AF4F-CD9D4F9D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The fractional branch</a:t>
            </a:r>
          </a:p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is the winning branch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57FFD-A829-42DD-BF37-F74E4E16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038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5" name="txt-64-223">
            <a:extLst xmlns:a="http://schemas.openxmlformats.org/drawingml/2006/main">
              <a:ext uri="{FF2B5EF4-FFF2-40B4-BE49-F238E27FC236}">
                <a16:creationId xmlns:a16="http://schemas.microsoft.com/office/drawing/2014/main" id="{68CCB721-FDDF-4520-B609-25778421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[ 3  ·  3  ·  8  ·  8 ]</a:t>
            </a:r>
          </a:p>
        </p:txBody>
      </p:sp>
      <p:sp>
        <p:nvSpPr>
          <p:cNvPr id="6" name="txt-58-295">
            <a:extLst xmlns:a="http://schemas.openxmlformats.org/drawingml/2006/main">
              <a:ext uri="{FF2B5EF4-FFF2-40B4-BE49-F238E27FC236}">
                <a16:creationId xmlns:a16="http://schemas.microsoft.com/office/drawing/2014/main" id="{F24391FD-6E8E-4942-992F-07611667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txt-128-293">
            <a:extLst xmlns:a="http://schemas.openxmlformats.org/drawingml/2006/main">
              <a:ext uri="{FF2B5EF4-FFF2-40B4-BE49-F238E27FC236}">
                <a16:creationId xmlns:a16="http://schemas.microsoft.com/office/drawing/2014/main" id="{3F241F95-D79F-4DA0-A52F-F6FC14D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908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8 ÷ 3 = 8/3</a:t>
            </a:r>
          </a:p>
        </p:txBody>
      </p:sp>
      <p:sp>
        <p:nvSpPr>
          <p:cNvPr id="8" name="txt-128-336">
            <a:extLst xmlns:a="http://schemas.openxmlformats.org/drawingml/2006/main">
              <a:ext uri="{FF2B5EF4-FFF2-40B4-BE49-F238E27FC236}">
                <a16:creationId xmlns:a16="http://schemas.microsoft.com/office/drawing/2014/main" id="{822A9E4E-20D2-4E1D-A0F0-5366D63C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state  [3, 8, 8/3]</a:t>
            </a:r>
          </a:p>
        </p:txBody>
      </p:sp>
      <p:sp>
        <p:nvSpPr>
          <p:cNvPr id="9" name="txt-58-405">
            <a:extLst xmlns:a="http://schemas.openxmlformats.org/drawingml/2006/main">
              <a:ext uri="{FF2B5EF4-FFF2-40B4-BE49-F238E27FC236}">
                <a16:creationId xmlns:a16="http://schemas.microsoft.com/office/drawing/2014/main" id="{4E28178F-D6EA-4294-8726-413A34C8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txt-128-403">
            <a:extLst xmlns:a="http://schemas.openxmlformats.org/drawingml/2006/main">
              <a:ext uri="{FF2B5EF4-FFF2-40B4-BE49-F238E27FC236}">
                <a16:creationId xmlns:a16="http://schemas.microsoft.com/office/drawing/2014/main" id="{E9266FC3-EF72-4ECD-B603-DA38EF1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385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3 − 8/3 = 1/3</a:t>
            </a:r>
          </a:p>
        </p:txBody>
      </p:sp>
      <p:sp>
        <p:nvSpPr>
          <p:cNvPr id="11" name="txt-128-446">
            <a:extLst xmlns:a="http://schemas.openxmlformats.org/drawingml/2006/main">
              <a:ext uri="{FF2B5EF4-FFF2-40B4-BE49-F238E27FC236}">
                <a16:creationId xmlns:a16="http://schemas.microsoft.com/office/drawing/2014/main" id="{993811E5-DCCA-4204-B9CE-24583B31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state  [8, 1/3]</a:t>
            </a:r>
          </a:p>
        </p:txBody>
      </p:sp>
      <p:sp>
        <p:nvSpPr>
          <p:cNvPr id="12" name="txt-58-515">
            <a:extLst xmlns:a="http://schemas.openxmlformats.org/drawingml/2006/main">
              <a:ext uri="{FF2B5EF4-FFF2-40B4-BE49-F238E27FC236}">
                <a16:creationId xmlns:a16="http://schemas.microsoft.com/office/drawing/2014/main" id="{2E98DDF3-2C8F-4CF7-AB19-EF59A07F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3" name="txt-128-513">
            <a:extLst xmlns:a="http://schemas.openxmlformats.org/drawingml/2006/main">
              <a:ext uri="{FF2B5EF4-FFF2-40B4-BE49-F238E27FC236}">
                <a16:creationId xmlns:a16="http://schemas.microsoft.com/office/drawing/2014/main" id="{E15BA02B-9E89-4040-99C3-E168BAE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863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8 ÷ 1/3 = 24</a:t>
            </a:r>
          </a:p>
        </p:txBody>
      </p:sp>
      <p:sp>
        <p:nvSpPr>
          <p:cNvPr id="14" name="txt-128-556">
            <a:extLst xmlns:a="http://schemas.openxmlformats.org/drawingml/2006/main">
              <a:ext uri="{FF2B5EF4-FFF2-40B4-BE49-F238E27FC236}">
                <a16:creationId xmlns:a16="http://schemas.microsoft.com/office/drawing/2014/main" id="{0E3D4E8E-AE24-47F5-AEE2-93ADCF43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95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VALIDATED 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345C1-7DA3-4A40-AD4D-AD74EFCD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863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81026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16" name="txt-726-519">
            <a:extLst xmlns:a="http://schemas.openxmlformats.org/drawingml/2006/main">
              <a:ext uri="{FF2B5EF4-FFF2-40B4-BE49-F238E27FC236}">
                <a16:creationId xmlns:a16="http://schemas.microsoft.com/office/drawing/2014/main" id="{6C0AC634-5774-459B-A965-8D04F927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434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SEARCH ADVANTAGE</a:t>
            </a:r>
          </a:p>
        </p:txBody>
      </p:sp>
      <p:sp>
        <p:nvSpPr>
          <p:cNvPr id="17" name="txt-726-555">
            <a:extLst xmlns:a="http://schemas.openxmlformats.org/drawingml/2006/main">
              <a:ext uri="{FF2B5EF4-FFF2-40B4-BE49-F238E27FC236}">
                <a16:creationId xmlns:a16="http://schemas.microsoft.com/office/drawing/2014/main" id="{1979B1B5-DF62-423C-9B7F-2227B4F0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86375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9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Better coverage—not better arithmetic knowledge</a:t>
            </a:r>
          </a:p>
        </p:txBody>
      </p:sp>
      <p:sp>
        <p:nvSpPr>
          <p:cNvPr id="18" name="txt-1170-664">
            <a:extLst xmlns:a="http://schemas.openxmlformats.org/drawingml/2006/main">
              <a:ext uri="{FF2B5EF4-FFF2-40B4-BE49-F238E27FC236}">
                <a16:creationId xmlns:a16="http://schemas.microsoft.com/office/drawing/2014/main" id="{6E77F82B-6DFD-41F4-9FD4-9F96F64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34791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8C5F8676-B1C2-4015-B07F-1C8A4002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06 · TOOLS &amp; TECHNOLOGIES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C9CBE3-D466-4269-9CDA-782A1567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Each technology earns its place in the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9C7B0-E510-42F3-B8BC-D5A29BB9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617E5C9-2D57-438E-92ED-7EC650BD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7B732-1710-4567-8A79-0118A70C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txt-54-190">
            <a:extLst xmlns:a="http://schemas.openxmlformats.org/drawingml/2006/main">
              <a:ext uri="{FF2B5EF4-FFF2-40B4-BE49-F238E27FC236}">
                <a16:creationId xmlns:a16="http://schemas.microsoft.com/office/drawing/2014/main" id="{FB4CFE1A-70BA-4C58-B734-742EFA88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REASONING</a:t>
            </a:r>
          </a:p>
        </p:txBody>
      </p:sp>
      <p:sp>
        <p:nvSpPr>
          <p:cNvPr id="7" name="txt-54-232">
            <a:extLst xmlns:a="http://schemas.openxmlformats.org/drawingml/2006/main">
              <a:ext uri="{FF2B5EF4-FFF2-40B4-BE49-F238E27FC236}">
                <a16:creationId xmlns:a16="http://schemas.microsoft.com/office/drawing/2014/main" id="{AB8606B6-23D4-40B8-AAD8-A65E52C3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Qwen2.5:3b</a:t>
            </a:r>
          </a:p>
        </p:txBody>
      </p:sp>
      <p:sp>
        <p:nvSpPr>
          <p:cNvPr id="8" name="txt-54-282">
            <a:extLst xmlns:a="http://schemas.openxmlformats.org/drawingml/2006/main">
              <a:ext uri="{FF2B5EF4-FFF2-40B4-BE49-F238E27FC236}">
                <a16:creationId xmlns:a16="http://schemas.microsoft.com/office/drawing/2014/main" id="{F9CE1412-AFA7-4893-8690-99C25AD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Generate the linear trace and rank candidate states.</a:t>
            </a:r>
          </a:p>
        </p:txBody>
      </p:sp>
      <p:sp>
        <p:nvSpPr>
          <p:cNvPr id="9" name="txt-54-377">
            <a:extLst xmlns:a="http://schemas.openxmlformats.org/drawingml/2006/main">
              <a:ext uri="{FF2B5EF4-FFF2-40B4-BE49-F238E27FC236}">
                <a16:creationId xmlns:a16="http://schemas.microsoft.com/office/drawing/2014/main" id="{2C0F45E9-D12C-4887-855A-A314BAC8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Ollama</a:t>
            </a:r>
          </a:p>
        </p:txBody>
      </p:sp>
      <p:sp>
        <p:nvSpPr>
          <p:cNvPr id="10" name="txt-54-427">
            <a:extLst xmlns:a="http://schemas.openxmlformats.org/drawingml/2006/main">
              <a:ext uri="{FF2B5EF4-FFF2-40B4-BE49-F238E27FC236}">
                <a16:creationId xmlns:a16="http://schemas.microsoft.com/office/drawing/2014/main" id="{5213F3EF-3CF6-4380-BF44-4F3E1B96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6717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Run locally without a cloud API key.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D7D74-547A-4E6C-910F-03A366E9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907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2" name="txt-568-190">
            <a:extLst xmlns:a="http://schemas.openxmlformats.org/drawingml/2006/main">
              <a:ext uri="{FF2B5EF4-FFF2-40B4-BE49-F238E27FC236}">
                <a16:creationId xmlns:a16="http://schemas.microsoft.com/office/drawing/2014/main" id="{A8B40C4F-6602-4F5E-83FB-F732BB9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CONTROL + PROOF</a:t>
            </a:r>
          </a:p>
        </p:txBody>
      </p:sp>
      <p:sp>
        <p:nvSpPr>
          <p:cNvPr id="13" name="txt-568-232">
            <a:extLst xmlns:a="http://schemas.openxmlformats.org/drawingml/2006/main">
              <a:ext uri="{FF2B5EF4-FFF2-40B4-BE49-F238E27FC236}">
                <a16:creationId xmlns:a16="http://schemas.microsoft.com/office/drawing/2014/main" id="{EE2ADFBB-3A99-4419-9CB7-11656FAC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09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LangGraph</a:t>
            </a:r>
          </a:p>
        </p:txBody>
      </p:sp>
      <p:sp>
        <p:nvSpPr>
          <p:cNvPr id="14" name="txt-568-282">
            <a:extLst xmlns:a="http://schemas.openxmlformats.org/drawingml/2006/main">
              <a:ext uri="{FF2B5EF4-FFF2-40B4-BE49-F238E27FC236}">
                <a16:creationId xmlns:a16="http://schemas.microsoft.com/office/drawing/2014/main" id="{E00602C0-77E7-4408-AD45-2EABCA3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Maintain state, routing and bounded iteration.</a:t>
            </a:r>
          </a:p>
        </p:txBody>
      </p:sp>
      <p:sp>
        <p:nvSpPr>
          <p:cNvPr id="15" name="txt-568-377">
            <a:extLst xmlns:a="http://schemas.openxmlformats.org/drawingml/2006/main">
              <a:ext uri="{FF2B5EF4-FFF2-40B4-BE49-F238E27FC236}">
                <a16:creationId xmlns:a16="http://schemas.microsoft.com/office/drawing/2014/main" id="{D94C7E5D-98BD-421C-A1CD-C5C79233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909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Python + AST</a:t>
            </a:r>
          </a:p>
        </p:txBody>
      </p:sp>
      <p:sp>
        <p:nvSpPr>
          <p:cNvPr id="16" name="txt-568-427">
            <a:extLst xmlns:a="http://schemas.openxmlformats.org/drawingml/2006/main">
              <a:ext uri="{FF2B5EF4-FFF2-40B4-BE49-F238E27FC236}">
                <a16:creationId xmlns:a16="http://schemas.microsoft.com/office/drawing/2014/main" id="{9803DC15-2601-4DEF-8588-0643AD9A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6717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Execute exact Fraction arithmetic and reject unsafe syntax.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12A33-4B8A-4AE9-AC24-EB07626F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8" name="txt-1056-190">
            <a:extLst xmlns:a="http://schemas.openxmlformats.org/drawingml/2006/main">
              <a:ext uri="{FF2B5EF4-FFF2-40B4-BE49-F238E27FC236}">
                <a16:creationId xmlns:a16="http://schemas.microsoft.com/office/drawing/2014/main" id="{83293C60-9372-42F5-AFC0-D4A6C75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EXPERIENCE</a:t>
            </a:r>
          </a:p>
        </p:txBody>
      </p:sp>
      <p:sp>
        <p:nvSpPr>
          <p:cNvPr id="19" name="txt-1056-232">
            <a:extLst xmlns:a="http://schemas.openxmlformats.org/drawingml/2006/main">
              <a:ext uri="{FF2B5EF4-FFF2-40B4-BE49-F238E27FC236}">
                <a16:creationId xmlns:a16="http://schemas.microsoft.com/office/drawing/2014/main" id="{87CBC7D2-BEC3-42D9-A210-F294DC33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Streamlit</a:t>
            </a:r>
          </a:p>
        </p:txBody>
      </p:sp>
      <p:sp>
        <p:nvSpPr>
          <p:cNvPr id="20" name="txt-1056-282">
            <a:extLst xmlns:a="http://schemas.openxmlformats.org/drawingml/2006/main">
              <a:ext uri="{FF2B5EF4-FFF2-40B4-BE49-F238E27FC236}">
                <a16:creationId xmlns:a16="http://schemas.microsoft.com/office/drawing/2014/main" id="{CC333050-6007-45ED-B514-73665FFD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860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Live demo</a:t>
            </a:r>
          </a:p>
          <a:p xmlns:a="http://schemas.openxmlformats.org/drawingml/2006/main">
            <a:pPr algn="l">
              <a:def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metrics</a:t>
            </a:r>
          </a:p>
          <a:p xmlns:a="http://schemas.openxmlformats.org/drawingml/2006/main">
            <a:pPr algn="l">
              <a:def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CSV export</a:t>
            </a:r>
          </a:p>
        </p:txBody>
      </p:sp>
      <p:sp>
        <p:nvSpPr>
          <p:cNvPr id="21" name="txt-1056-438">
            <a:extLst xmlns:a="http://schemas.openxmlformats.org/drawingml/2006/main">
              <a:ext uri="{FF2B5EF4-FFF2-40B4-BE49-F238E27FC236}">
                <a16:creationId xmlns:a16="http://schemas.microsoft.com/office/drawing/2014/main" id="{F6D4C01E-953E-4778-BC12-2BB3F75A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719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rPr>
              <a:t>No vector DB</a:t>
            </a:r>
          </a:p>
        </p:txBody>
      </p:sp>
      <p:sp>
        <p:nvSpPr>
          <p:cNvPr id="22" name="txt-1056-482">
            <a:extLst xmlns:a="http://schemas.openxmlformats.org/drawingml/2006/main">
              <a:ext uri="{FF2B5EF4-FFF2-40B4-BE49-F238E27FC236}">
                <a16:creationId xmlns:a16="http://schemas.microsoft.com/office/drawing/2014/main" id="{7BBF0D0F-36DC-400E-BE61-34D401A0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910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No retrieval requirement.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B1642-9D4E-4783-8C1D-E503CE54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1144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24" name="txt-74-615">
            <a:extLst xmlns:a="http://schemas.openxmlformats.org/drawingml/2006/main">
              <a:ext uri="{FF2B5EF4-FFF2-40B4-BE49-F238E27FC236}">
                <a16:creationId xmlns:a16="http://schemas.microsoft.com/office/drawing/2014/main" id="{9C594C5B-0CAD-4063-A0DF-1F652AD9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9375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Focused architecture &gt; unnecessary buzzwords</a:t>
            </a:r>
          </a:p>
        </p:txBody>
      </p:sp>
    </p:spTree>
    <p:extLst>
      <p:ext uri="{BB962C8B-B14F-4D97-AF65-F5344CB8AC3E}">
        <p14:creationId xmlns:p14="http://schemas.microsoft.com/office/powerpoint/2010/main" val="1739461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41B306AD-9EC3-4577-8F38-7836379C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07 · EXPECTED OUTPUT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5984C6-A743-41B6-84CD-B0393EE1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Every run returns a proof, a trace and its computational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AECAE-4317-4995-A004-F27EE74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40C8D8C-50FB-40EF-866C-1419D602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B7116-998A-4228-8EF4-322FD387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1F49C-CB53-43DF-B7BE-668A0CE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7" name="txt-64-191">
            <a:extLst xmlns:a="http://schemas.openxmlformats.org/drawingml/2006/main">
              <a:ext uri="{FF2B5EF4-FFF2-40B4-BE49-F238E27FC236}">
                <a16:creationId xmlns:a16="http://schemas.microsoft.com/office/drawing/2014/main" id="{6CD90716-73E5-440F-8BBC-5B1BAF15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LIVE SOLVER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9F369-AC17-4C7B-B6C1-61083839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9913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D1730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9" name="txt-84-260">
            <a:extLst xmlns:a="http://schemas.openxmlformats.org/drawingml/2006/main">
              <a:ext uri="{FF2B5EF4-FFF2-40B4-BE49-F238E27FC236}">
                <a16:creationId xmlns:a16="http://schemas.microsoft.com/office/drawing/2014/main" id="{6D90F9FC-CD25-48F3-80A0-79AF805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10" name="txt-84-295">
            <a:extLst xmlns:a="http://schemas.openxmlformats.org/drawingml/2006/main">
              <a:ext uri="{FF2B5EF4-FFF2-40B4-BE49-F238E27FC236}">
                <a16:creationId xmlns:a16="http://schemas.microsoft.com/office/drawing/2014/main" id="{9E33AE1E-AC2C-4C8D-B858-FD7BAD8F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3  ·  3  ·  8  · 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049FF-05E8-4DAB-87E9-A14068B2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67000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12" name="txt-570-287">
            <a:extLst xmlns:a="http://schemas.openxmlformats.org/drawingml/2006/main">
              <a:ext uri="{FF2B5EF4-FFF2-40B4-BE49-F238E27FC236}">
                <a16:creationId xmlns:a16="http://schemas.microsoft.com/office/drawing/2014/main" id="{23F59BEE-B5FC-4362-8931-289D812F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336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TREE-OF-THOUGHT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600D6-EC84-4E5C-8D63-C4812106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4" name="txt-84-392">
            <a:extLst xmlns:a="http://schemas.openxmlformats.org/drawingml/2006/main">
              <a:ext uri="{FF2B5EF4-FFF2-40B4-BE49-F238E27FC236}">
                <a16:creationId xmlns:a16="http://schemas.microsoft.com/office/drawing/2014/main" id="{7E1E3936-B9CB-4488-BA1E-78264BC5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8 ÷ 3 = 8/3</a:t>
            </a:r>
          </a:p>
        </p:txBody>
      </p:sp>
      <p:sp>
        <p:nvSpPr>
          <p:cNvPr id="15" name="txt-84-438">
            <a:extLst xmlns:a="http://schemas.openxmlformats.org/drawingml/2006/main">
              <a:ext uri="{FF2B5EF4-FFF2-40B4-BE49-F238E27FC236}">
                <a16:creationId xmlns:a16="http://schemas.microsoft.com/office/drawing/2014/main" id="{84DF27CD-9E90-460F-8EFB-C5693CC5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3 − 8/3 = 1/3</a:t>
            </a:r>
          </a:p>
        </p:txBody>
      </p:sp>
      <p:sp>
        <p:nvSpPr>
          <p:cNvPr id="16" name="txt-84-484">
            <a:extLst xmlns:a="http://schemas.openxmlformats.org/drawingml/2006/main">
              <a:ext uri="{FF2B5EF4-FFF2-40B4-BE49-F238E27FC236}">
                <a16:creationId xmlns:a16="http://schemas.microsoft.com/office/drawing/2014/main" id="{BA6F529D-3397-4A62-BFDC-5606F166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8 ÷ 1/3 = 24</a:t>
            </a:r>
          </a:p>
        </p:txBody>
      </p:sp>
      <p:sp>
        <p:nvSpPr>
          <p:cNvPr id="17" name="txt-560-410">
            <a:extLst xmlns:a="http://schemas.openxmlformats.org/drawingml/2006/main">
              <a:ext uri="{FF2B5EF4-FFF2-40B4-BE49-F238E27FC236}">
                <a16:creationId xmlns:a16="http://schemas.microsoft.com/office/drawing/2014/main" id="{EF53EFFC-2F75-4639-BBD8-90D64C71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VALID ✓</a:t>
            </a:r>
          </a:p>
        </p:txBody>
      </p:sp>
      <p:sp>
        <p:nvSpPr>
          <p:cNvPr id="18" name="txt-530-458">
            <a:extLst xmlns:a="http://schemas.openxmlformats.org/drawingml/2006/main">
              <a:ext uri="{FF2B5EF4-FFF2-40B4-BE49-F238E27FC236}">
                <a16:creationId xmlns:a16="http://schemas.microsoft.com/office/drawing/2014/main" id="{3E9D204D-026C-4B32-AA8C-FD91DD48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Exact Python 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C4DB4-B440-4F41-B004-88F45C2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69570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20" name="txt-868-260">
            <a:extLst xmlns:a="http://schemas.openxmlformats.org/drawingml/2006/main">
              <a:ext uri="{FF2B5EF4-FFF2-40B4-BE49-F238E27FC236}">
                <a16:creationId xmlns:a16="http://schemas.microsoft.com/office/drawing/2014/main" id="{936306BD-F063-412A-8C94-2619830D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MEASURED OUTPUT</a:t>
            </a:r>
          </a:p>
        </p:txBody>
      </p:sp>
      <p:sp>
        <p:nvSpPr>
          <p:cNvPr id="21" name="txt-868-305">
            <a:extLst xmlns:a="http://schemas.openxmlformats.org/drawingml/2006/main">
              <a:ext uri="{FF2B5EF4-FFF2-40B4-BE49-F238E27FC236}">
                <a16:creationId xmlns:a16="http://schemas.microsoft.com/office/drawing/2014/main" id="{3EF7C74A-6C9F-4713-A978-C5C15F60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Steps</a:t>
            </a:r>
          </a:p>
        </p:txBody>
      </p:sp>
      <p:sp>
        <p:nvSpPr>
          <p:cNvPr id="22" name="txt-1040-305">
            <a:extLst xmlns:a="http://schemas.openxmlformats.org/drawingml/2006/main">
              <a:ext uri="{FF2B5EF4-FFF2-40B4-BE49-F238E27FC236}">
                <a16:creationId xmlns:a16="http://schemas.microsoft.com/office/drawing/2014/main" id="{D364E5DA-BE8C-4732-A81A-FC83BED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051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txt-868-355">
            <a:extLst xmlns:a="http://schemas.openxmlformats.org/drawingml/2006/main">
              <a:ext uri="{FF2B5EF4-FFF2-40B4-BE49-F238E27FC236}">
                <a16:creationId xmlns:a16="http://schemas.microsoft.com/office/drawing/2014/main" id="{C1FF4C28-AD17-4027-BA16-CEB01520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81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Nodes</a:t>
            </a:r>
          </a:p>
        </p:txBody>
      </p:sp>
      <p:sp>
        <p:nvSpPr>
          <p:cNvPr id="24" name="txt-1040-355">
            <a:extLst xmlns:a="http://schemas.openxmlformats.org/drawingml/2006/main">
              <a:ext uri="{FF2B5EF4-FFF2-40B4-BE49-F238E27FC236}">
                <a16:creationId xmlns:a16="http://schemas.microsoft.com/office/drawing/2014/main" id="{28FD530E-5601-489A-A09F-5675EA52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813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txt-868-405">
            <a:extLst xmlns:a="http://schemas.openxmlformats.org/drawingml/2006/main">
              <a:ext uri="{FF2B5EF4-FFF2-40B4-BE49-F238E27FC236}">
                <a16:creationId xmlns:a16="http://schemas.microsoft.com/office/drawing/2014/main" id="{AFFD77E8-819C-41D9-B06B-CB1BCD3A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57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Latency</a:t>
            </a:r>
          </a:p>
        </p:txBody>
      </p:sp>
      <p:sp>
        <p:nvSpPr>
          <p:cNvPr id="26" name="txt-1040-405">
            <a:extLst xmlns:a="http://schemas.openxmlformats.org/drawingml/2006/main">
              <a:ext uri="{FF2B5EF4-FFF2-40B4-BE49-F238E27FC236}">
                <a16:creationId xmlns:a16="http://schemas.microsoft.com/office/drawing/2014/main" id="{CDDE8757-0DF9-49BC-A1C6-30C96F2D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576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measured</a:t>
            </a:r>
          </a:p>
        </p:txBody>
      </p:sp>
      <p:sp>
        <p:nvSpPr>
          <p:cNvPr id="27" name="txt-868-455">
            <a:extLst xmlns:a="http://schemas.openxmlformats.org/drawingml/2006/main">
              <a:ext uri="{FF2B5EF4-FFF2-40B4-BE49-F238E27FC236}">
                <a16:creationId xmlns:a16="http://schemas.microsoft.com/office/drawing/2014/main" id="{BB8A4243-7AC9-489B-A497-22E7EDC6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33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Tokens</a:t>
            </a:r>
          </a:p>
        </p:txBody>
      </p:sp>
      <p:sp>
        <p:nvSpPr>
          <p:cNvPr id="28" name="txt-1040-455">
            <a:extLst xmlns:a="http://schemas.openxmlformats.org/drawingml/2006/main">
              <a:ext uri="{FF2B5EF4-FFF2-40B4-BE49-F238E27FC236}">
                <a16:creationId xmlns:a16="http://schemas.microsoft.com/office/drawing/2014/main" id="{AC9395ED-7985-4AA7-A8A8-CABEF8DE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338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measured</a:t>
            </a:r>
          </a:p>
        </p:txBody>
      </p:sp>
      <p:sp>
        <p:nvSpPr>
          <p:cNvPr id="29" name="txt-868-505">
            <a:extLst xmlns:a="http://schemas.openxmlformats.org/drawingml/2006/main">
              <a:ext uri="{FF2B5EF4-FFF2-40B4-BE49-F238E27FC236}">
                <a16:creationId xmlns:a16="http://schemas.microsoft.com/office/drawing/2014/main" id="{F5646F67-A365-468C-A4B2-833201A1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0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Expression</a:t>
            </a:r>
          </a:p>
        </p:txBody>
      </p:sp>
      <p:sp>
        <p:nvSpPr>
          <p:cNvPr id="30" name="txt-1040-505">
            <a:extLst xmlns:a="http://schemas.openxmlformats.org/drawingml/2006/main">
              <a:ext uri="{FF2B5EF4-FFF2-40B4-BE49-F238E27FC236}">
                <a16:creationId xmlns:a16="http://schemas.microsoft.com/office/drawing/2014/main" id="{B9771472-84FE-4926-828C-D4B270A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01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saved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508405-27D7-4FA4-B021-61243A4F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44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81026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32" name="txt-78-620">
            <a:extLst xmlns:a="http://schemas.openxmlformats.org/drawingml/2006/main">
              <a:ext uri="{FF2B5EF4-FFF2-40B4-BE49-F238E27FC236}">
                <a16:creationId xmlns:a16="http://schemas.microsoft.com/office/drawing/2014/main" id="{87E454DD-746E-4A67-A05C-F3DBE102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UI result  ·  branch trace  ·  results.csv  ·  comparison charts</a:t>
            </a:r>
          </a:p>
        </p:txBody>
      </p:sp>
    </p:spTree>
    <p:extLst>
      <p:ext uri="{BB962C8B-B14F-4D97-AF65-F5344CB8AC3E}">
        <p14:creationId xmlns:p14="http://schemas.microsoft.com/office/powerpoint/2010/main" val="11612454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63347383-EC87-4EFD-AB2A-75ECC8C0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08 · EXPERIMENTAL PROTOCOL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29D58A-3DB1-4879-B94F-E2A01BAC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Thirty controlled runs turn a demo into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2B7C9-B89F-4963-9C6A-2DFC14BF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9CB5A0A-4F3A-47EB-84EE-F61D2DB8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FF208-1D08-4929-ABD7-FB6F6269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14350" y="1781175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571750"/>
                <a:gridCol w="2952750"/>
              </a:tblGrid>
              <a:tr h="5578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D7FF"/>
                          </a:solidFill>
                        </a:rPr>
                        <a:t>VARIABLE</a:t>
                      </a:r>
                    </a:p>
                  </a:txBody>
                  <a:tcPr marL="91440" marR="91440" marT="45720" marB="45720">
                    <a:solidFill>
                      <a:srgbClr val="11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D7FF"/>
                          </a:solidFill>
                        </a:rPr>
                        <a:t>CONTROLLED VALUE</a:t>
                      </a:r>
                    </a:p>
                  </a:txBody>
                  <a:tcPr marL="91440" marR="91440" marT="45720" marB="45720">
                    <a:solidFill>
                      <a:srgbClr val="11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1D7FF"/>
                          </a:solidFill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111E3C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qwen2.5:3b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Same capability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Temperature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Lower variance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Seeds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42–46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Five repeatable trials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Context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Fresh request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No history leakage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Puzzles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Same three sets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Matched difficulty</a:t>
                      </a:r>
                    </a:p>
                  </a:txBody>
                  <a:tcPr marL="91440" marR="91440" marT="45720" marB="45720">
                    <a:solidFill>
                      <a:srgbClr val="08102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Judge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Exact Python tool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8EEFF"/>
                          </a:solidFill>
                        </a:rPr>
                        <a:t>LLM cannot self-grade</a:t>
                      </a:r>
                    </a:p>
                  </a:txBody>
                  <a:tcPr marL="91440" marR="91440" marT="45720" marB="45720">
                    <a:solidFill>
                      <a:srgbClr val="0D173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C139F-24C5-48A0-AFC8-AB2D280E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81175"/>
            <a:ext cx="3181350" cy="39052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8" name="txt-928-221">
            <a:extLst xmlns:a="http://schemas.openxmlformats.org/drawingml/2006/main">
              <a:ext uri="{FF2B5EF4-FFF2-40B4-BE49-F238E27FC236}">
                <a16:creationId xmlns:a16="http://schemas.microsoft.com/office/drawing/2014/main" id="{BB896E6E-9048-443E-AD1A-7B0A92F1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0502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9" name="txt-1012-248">
            <a:extLst xmlns:a="http://schemas.openxmlformats.org/drawingml/2006/main">
              <a:ext uri="{FF2B5EF4-FFF2-40B4-BE49-F238E27FC236}">
                <a16:creationId xmlns:a16="http://schemas.microsoft.com/office/drawing/2014/main" id="{68E9CD54-9690-4626-B233-D8539110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puzzles</a:t>
            </a:r>
          </a:p>
        </p:txBody>
      </p:sp>
      <p:sp>
        <p:nvSpPr>
          <p:cNvPr id="10" name="txt-928-319">
            <a:extLst xmlns:a="http://schemas.openxmlformats.org/drawingml/2006/main">
              <a:ext uri="{FF2B5EF4-FFF2-40B4-BE49-F238E27FC236}">
                <a16:creationId xmlns:a16="http://schemas.microsoft.com/office/drawing/2014/main" id="{21BEEAB5-F98E-4785-97B7-852A3D24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38475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× 2</a:t>
            </a:r>
          </a:p>
        </p:txBody>
      </p:sp>
      <p:sp>
        <p:nvSpPr>
          <p:cNvPr id="11" name="txt-1053-346">
            <a:extLst xmlns:a="http://schemas.openxmlformats.org/drawingml/2006/main">
              <a:ext uri="{FF2B5EF4-FFF2-40B4-BE49-F238E27FC236}">
                <a16:creationId xmlns:a16="http://schemas.microsoft.com/office/drawing/2014/main" id="{9EA3D4FF-2405-4231-B348-A95595F0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methods</a:t>
            </a:r>
          </a:p>
        </p:txBody>
      </p:sp>
      <p:sp>
        <p:nvSpPr>
          <p:cNvPr id="12" name="txt-928-417">
            <a:extLst xmlns:a="http://schemas.openxmlformats.org/drawingml/2006/main">
              <a:ext uri="{FF2B5EF4-FFF2-40B4-BE49-F238E27FC236}">
                <a16:creationId xmlns:a16="http://schemas.microsoft.com/office/drawing/2014/main" id="{1AAED5A6-C77A-42F7-82CF-F3D57F1A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71925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× 5</a:t>
            </a:r>
          </a:p>
        </p:txBody>
      </p:sp>
      <p:sp>
        <p:nvSpPr>
          <p:cNvPr id="13" name="txt-1053-444">
            <a:extLst xmlns:a="http://schemas.openxmlformats.org/drawingml/2006/main">
              <a:ext uri="{FF2B5EF4-FFF2-40B4-BE49-F238E27FC236}">
                <a16:creationId xmlns:a16="http://schemas.microsoft.com/office/drawing/2014/main" id="{54224464-4B27-4DF6-8244-30B8DE9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2291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seeds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289D3-2906-4699-BF5A-8DA46A6F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57750"/>
            <a:ext cx="243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5" name="txt-928-529">
            <a:extLst xmlns:a="http://schemas.openxmlformats.org/drawingml/2006/main">
              <a:ext uri="{FF2B5EF4-FFF2-40B4-BE49-F238E27FC236}">
                <a16:creationId xmlns:a16="http://schemas.microsoft.com/office/drawing/2014/main" id="{E1F606B6-F90F-4862-9787-B79D2922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3872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6" name="txt-1038-548">
            <a:extLst xmlns:a="http://schemas.openxmlformats.org/drawingml/2006/main">
              <a:ext uri="{FF2B5EF4-FFF2-40B4-BE49-F238E27FC236}">
                <a16:creationId xmlns:a16="http://schemas.microsoft.com/office/drawing/2014/main" id="{D2189438-36A0-4CFE-9EEB-A0552D19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executions</a:t>
            </a:r>
          </a:p>
        </p:txBody>
      </p:sp>
    </p:spTree>
    <p:extLst>
      <p:ext uri="{BB962C8B-B14F-4D97-AF65-F5344CB8AC3E}">
        <p14:creationId xmlns:p14="http://schemas.microsoft.com/office/powerpoint/2010/main" val="5277989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52AD09AB-6CAE-43FE-80E7-D69D65A8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09 · VERIFICATION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5C1696-1F5B-4769-8A57-1FB8EF45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The prototype passes every deterministic safeguard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44898-E760-458B-8635-20336A4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7AC0082-989E-48EC-9245-ED10172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B4375-F6BA-471C-95CF-870AD429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txt-54-190">
            <a:extLst xmlns:a="http://schemas.openxmlformats.org/drawingml/2006/main">
              <a:ext uri="{FF2B5EF4-FFF2-40B4-BE49-F238E27FC236}">
                <a16:creationId xmlns:a16="http://schemas.microsoft.com/office/drawing/2014/main" id="{96961EF3-4410-4E02-8FD6-FC3ADDC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8/8</a:t>
            </a:r>
          </a:p>
        </p:txBody>
      </p:sp>
      <p:sp>
        <p:nvSpPr>
          <p:cNvPr id="7" name="txt-54-266">
            <a:extLst xmlns:a="http://schemas.openxmlformats.org/drawingml/2006/main">
              <a:ext uri="{FF2B5EF4-FFF2-40B4-BE49-F238E27FC236}">
                <a16:creationId xmlns:a16="http://schemas.microsoft.com/office/drawing/2014/main" id="{107162C1-9382-42EA-9451-22C3839F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Unit tests passed</a:t>
            </a:r>
          </a:p>
        </p:txBody>
      </p:sp>
      <p:sp>
        <p:nvSpPr>
          <p:cNvPr id="8" name="txt-346-190">
            <a:extLst xmlns:a="http://schemas.openxmlformats.org/drawingml/2006/main">
              <a:ext uri="{FF2B5EF4-FFF2-40B4-BE49-F238E27FC236}">
                <a16:creationId xmlns:a16="http://schemas.microsoft.com/office/drawing/2014/main" id="{A864FB64-2585-4FC9-845E-AE4EC412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3/3</a:t>
            </a:r>
          </a:p>
        </p:txBody>
      </p:sp>
      <p:sp>
        <p:nvSpPr>
          <p:cNvPr id="9" name="txt-346-266">
            <a:extLst xmlns:a="http://schemas.openxmlformats.org/drawingml/2006/main">
              <a:ext uri="{FF2B5EF4-FFF2-40B4-BE49-F238E27FC236}">
                <a16:creationId xmlns:a16="http://schemas.microsoft.com/office/drawing/2014/main" id="{EE371BFE-ECEB-4E79-9D94-3C450692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336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Puzzles verified</a:t>
            </a:r>
          </a:p>
        </p:txBody>
      </p:sp>
      <p:sp>
        <p:nvSpPr>
          <p:cNvPr id="10" name="txt-638-190">
            <a:extLst xmlns:a="http://schemas.openxmlformats.org/drawingml/2006/main">
              <a:ext uri="{FF2B5EF4-FFF2-40B4-BE49-F238E27FC236}">
                <a16:creationId xmlns:a16="http://schemas.microsoft.com/office/drawing/2014/main" id="{C1669150-1811-4CDE-A96F-67C6D6EA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EXACT</a:t>
            </a:r>
          </a:p>
        </p:txBody>
      </p:sp>
      <p:sp>
        <p:nvSpPr>
          <p:cNvPr id="11" name="txt-638-266">
            <a:extLst xmlns:a="http://schemas.openxmlformats.org/drawingml/2006/main">
              <a:ext uri="{FF2B5EF4-FFF2-40B4-BE49-F238E27FC236}">
                <a16:creationId xmlns:a16="http://schemas.microsoft.com/office/drawing/2014/main" id="{CF3AA2B0-BB8B-467C-97D0-3E132B12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Fraction arithmetic</a:t>
            </a:r>
          </a:p>
        </p:txBody>
      </p:sp>
      <p:sp>
        <p:nvSpPr>
          <p:cNvPr id="12" name="txt-954-190">
            <a:extLst xmlns:a="http://schemas.openxmlformats.org/drawingml/2006/main">
              <a:ext uri="{FF2B5EF4-FFF2-40B4-BE49-F238E27FC236}">
                <a16:creationId xmlns:a16="http://schemas.microsoft.com/office/drawing/2014/main" id="{93E8286A-948B-4EB4-94CF-919030E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SAFE</a:t>
            </a:r>
          </a:p>
        </p:txBody>
      </p:sp>
      <p:sp>
        <p:nvSpPr>
          <p:cNvPr id="13" name="txt-954-266">
            <a:extLst xmlns:a="http://schemas.openxmlformats.org/drawingml/2006/main">
              <a:ext uri="{FF2B5EF4-FFF2-40B4-BE49-F238E27FC236}">
                <a16:creationId xmlns:a16="http://schemas.microsoft.com/office/drawing/2014/main" id="{FBDA3A94-F75C-4D48-B3CA-3E61D5F4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AST-only syntax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FE33A-9F43-4F54-93BB-0A84360F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051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5" name="txt-54-389">
            <a:extLst xmlns:a="http://schemas.openxmlformats.org/drawingml/2006/main">
              <a:ext uri="{FF2B5EF4-FFF2-40B4-BE49-F238E27FC236}">
                <a16:creationId xmlns:a16="http://schemas.microsoft.com/office/drawing/2014/main" id="{C6A2E8CC-1550-4196-80D3-732C66EF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rPr>
              <a:t>THE VALIDATOR REJECTS</a:t>
            </a:r>
          </a:p>
        </p:txBody>
      </p:sp>
      <p:sp>
        <p:nvSpPr>
          <p:cNvPr id="16" name="txt-54-452">
            <a:extLst xmlns:a="http://schemas.openxmlformats.org/drawingml/2006/main">
              <a:ext uri="{FF2B5EF4-FFF2-40B4-BE49-F238E27FC236}">
                <a16:creationId xmlns:a16="http://schemas.microsoft.com/office/drawing/2014/main" id="{B52C24A3-62ED-4501-ABFB-76EBDB48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7" name="txt-54-493">
            <a:extLst xmlns:a="http://schemas.openxmlformats.org/drawingml/2006/main">
              <a:ext uri="{FF2B5EF4-FFF2-40B4-BE49-F238E27FC236}">
                <a16:creationId xmlns:a16="http://schemas.microsoft.com/office/drawing/2014/main" id="{676D436A-44FC-40D9-B4AF-91DCECE9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Wrong final value</a:t>
            </a:r>
          </a:p>
        </p:txBody>
      </p:sp>
      <p:sp>
        <p:nvSpPr>
          <p:cNvPr id="18" name="txt-346-452">
            <a:extLst xmlns:a="http://schemas.openxmlformats.org/drawingml/2006/main">
              <a:ext uri="{FF2B5EF4-FFF2-40B4-BE49-F238E27FC236}">
                <a16:creationId xmlns:a16="http://schemas.microsoft.com/office/drawing/2014/main" id="{B28E5BC7-97A9-4B7F-AFD8-E03E85DF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053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9" name="txt-346-493">
            <a:extLst xmlns:a="http://schemas.openxmlformats.org/drawingml/2006/main">
              <a:ext uri="{FF2B5EF4-FFF2-40B4-BE49-F238E27FC236}">
                <a16:creationId xmlns:a16="http://schemas.microsoft.com/office/drawing/2014/main" id="{E1CA595E-C19D-4AAA-A733-D544AD6F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958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Reused or missing numbers</a:t>
            </a:r>
          </a:p>
        </p:txBody>
      </p:sp>
      <p:sp>
        <p:nvSpPr>
          <p:cNvPr id="20" name="txt-638-452">
            <a:extLst xmlns:a="http://schemas.openxmlformats.org/drawingml/2006/main">
              <a:ext uri="{FF2B5EF4-FFF2-40B4-BE49-F238E27FC236}">
                <a16:creationId xmlns:a16="http://schemas.microsoft.com/office/drawing/2014/main" id="{14579DA4-61F8-41F8-B606-29B3BB62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53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1" name="txt-638-493">
            <a:extLst xmlns:a="http://schemas.openxmlformats.org/drawingml/2006/main">
              <a:ext uri="{FF2B5EF4-FFF2-40B4-BE49-F238E27FC236}">
                <a16:creationId xmlns:a16="http://schemas.microsoft.com/office/drawing/2014/main" id="{CFA20B80-D012-444F-A29A-7E223648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958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Division by zero</a:t>
            </a:r>
          </a:p>
        </p:txBody>
      </p:sp>
      <p:sp>
        <p:nvSpPr>
          <p:cNvPr id="22" name="txt-930-452">
            <a:extLst xmlns:a="http://schemas.openxmlformats.org/drawingml/2006/main">
              <a:ext uri="{FF2B5EF4-FFF2-40B4-BE49-F238E27FC236}">
                <a16:creationId xmlns:a16="http://schemas.microsoft.com/office/drawing/2014/main" id="{B2FD49F0-2400-41C5-84B1-FDF3EAF3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053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3" name="txt-930-493">
            <a:extLst xmlns:a="http://schemas.openxmlformats.org/drawingml/2006/main">
              <a:ext uri="{FF2B5EF4-FFF2-40B4-BE49-F238E27FC236}">
                <a16:creationId xmlns:a16="http://schemas.microsoft.com/office/drawing/2014/main" id="{5C8E2380-C3AA-4845-9101-EFB0F76C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958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66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Python code injection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3F31C9-D06E-4682-8C15-04C7850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44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25" name="txt-76-602">
            <a:extLst xmlns:a="http://schemas.openxmlformats.org/drawingml/2006/main">
              <a:ext uri="{FF2B5EF4-FFF2-40B4-BE49-F238E27FC236}">
                <a16:creationId xmlns:a16="http://schemas.microsoft.com/office/drawing/2014/main" id="{7478DC9C-4A76-4651-89D0-0A5E989B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Implementation verified  ·  Qwen performance is measured separately on the Ollama machine</a:t>
            </a:r>
          </a:p>
        </p:txBody>
      </p:sp>
    </p:spTree>
    <p:extLst>
      <p:ext uri="{BB962C8B-B14F-4D97-AF65-F5344CB8AC3E}">
        <p14:creationId xmlns:p14="http://schemas.microsoft.com/office/powerpoint/2010/main" val="14144993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44F36E3E-1773-4A97-A01E-3C5FBD3A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10 · IMPLEMENTATION PLAN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FEDB24-EACD-407F-AC00-3E0DA394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From exact tools to a jury-ready laptop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1D317-D839-46D1-BD83-B8308688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ECEC8A8-E069-4CBD-9B49-2F0B2EE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83C53-3E63-4120-BAB5-1FC8CE50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txt-54-189">
            <a:extLst xmlns:a="http://schemas.openxmlformats.org/drawingml/2006/main">
              <a:ext uri="{FF2B5EF4-FFF2-40B4-BE49-F238E27FC236}">
                <a16:creationId xmlns:a16="http://schemas.microsoft.com/office/drawing/2014/main" id="{96284D9D-16F5-4C9B-B344-0DF2597B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02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txt-124-188">
            <a:extLst xmlns:a="http://schemas.openxmlformats.org/drawingml/2006/main">
              <a:ext uri="{FF2B5EF4-FFF2-40B4-BE49-F238E27FC236}">
                <a16:creationId xmlns:a16="http://schemas.microsoft.com/office/drawing/2014/main" id="{B6C6265B-9EB9-4892-9858-0EB7C8B4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90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ENGINE</a:t>
            </a:r>
          </a:p>
        </p:txBody>
      </p:sp>
      <p:sp>
        <p:nvSpPr>
          <p:cNvPr id="8" name="txt-286-188">
            <a:extLst xmlns:a="http://schemas.openxmlformats.org/drawingml/2006/main">
              <a:ext uri="{FF2B5EF4-FFF2-40B4-BE49-F238E27FC236}">
                <a16:creationId xmlns:a16="http://schemas.microsoft.com/office/drawing/2014/main" id="{BA191185-1FDF-4B4D-9065-680C9DEC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90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Exact Fraction operations + validator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DD491-AC20-4DD2-A851-09119641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0" name="txt-54-271">
            <a:extLst xmlns:a="http://schemas.openxmlformats.org/drawingml/2006/main">
              <a:ext uri="{FF2B5EF4-FFF2-40B4-BE49-F238E27FC236}">
                <a16:creationId xmlns:a16="http://schemas.microsoft.com/office/drawing/2014/main" id="{C3375F69-FA90-4D27-B7EA-FBE48EBC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812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txt-124-270">
            <a:extLst xmlns:a="http://schemas.openxmlformats.org/drawingml/2006/main">
              <a:ext uri="{FF2B5EF4-FFF2-40B4-BE49-F238E27FC236}">
                <a16:creationId xmlns:a16="http://schemas.microsoft.com/office/drawing/2014/main" id="{DBD4863F-6897-4C26-8C2E-86E872E6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AGENTS</a:t>
            </a:r>
          </a:p>
        </p:txBody>
      </p:sp>
      <p:sp>
        <p:nvSpPr>
          <p:cNvPr id="12" name="txt-286-270">
            <a:extLst xmlns:a="http://schemas.openxmlformats.org/drawingml/2006/main">
              <a:ext uri="{FF2B5EF4-FFF2-40B4-BE49-F238E27FC236}">
                <a16:creationId xmlns:a16="http://schemas.microsoft.com/office/drawing/2014/main" id="{AEA5342D-D330-4FE9-B96B-BDA7F30D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Linear and ToT strategies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56B6C-C922-461E-980F-3CEB1639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4" name="txt-54-353">
            <a:extLst xmlns:a="http://schemas.openxmlformats.org/drawingml/2006/main">
              <a:ext uri="{FF2B5EF4-FFF2-40B4-BE49-F238E27FC236}">
                <a16:creationId xmlns:a16="http://schemas.microsoft.com/office/drawing/2014/main" id="{597D6C5A-8FDE-4543-81DE-1F2C24D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txt-124-352">
            <a:extLst xmlns:a="http://schemas.openxmlformats.org/drawingml/2006/main">
              <a:ext uri="{FF2B5EF4-FFF2-40B4-BE49-F238E27FC236}">
                <a16:creationId xmlns:a16="http://schemas.microsoft.com/office/drawing/2014/main" id="{645D34FE-6548-454F-9574-D93F233C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16" name="txt-286-352">
            <a:extLst xmlns:a="http://schemas.openxmlformats.org/drawingml/2006/main">
              <a:ext uri="{FF2B5EF4-FFF2-40B4-BE49-F238E27FC236}">
                <a16:creationId xmlns:a16="http://schemas.microsoft.com/office/drawing/2014/main" id="{93844743-DD6F-470A-AFFF-9EC60278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52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LangGraph state and routing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2610E-4F3C-4E3D-BFB6-7FE35981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8" name="txt-54-435">
            <a:extLst xmlns:a="http://schemas.openxmlformats.org/drawingml/2006/main">
              <a:ext uri="{FF2B5EF4-FFF2-40B4-BE49-F238E27FC236}">
                <a16:creationId xmlns:a16="http://schemas.microsoft.com/office/drawing/2014/main" id="{1D9A6094-E62D-479B-98C7-F31CE2C4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43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txt-124-434">
            <a:extLst xmlns:a="http://schemas.openxmlformats.org/drawingml/2006/main">
              <a:ext uri="{FF2B5EF4-FFF2-40B4-BE49-F238E27FC236}">
                <a16:creationId xmlns:a16="http://schemas.microsoft.com/office/drawing/2014/main" id="{A3DEA1C1-6B77-40B4-B309-1BAB6FBE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20" name="txt-286-434">
            <a:extLst xmlns:a="http://schemas.openxmlformats.org/drawingml/2006/main">
              <a:ext uri="{FF2B5EF4-FFF2-40B4-BE49-F238E27FC236}">
                <a16:creationId xmlns:a16="http://schemas.microsoft.com/office/drawing/2014/main" id="{5664C4CF-36B0-415B-8242-CE5C3A23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Benchmark, CSV and charts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BED9F-B9A5-4034-A5AC-813855D6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22" name="txt-54-517">
            <a:extLst xmlns:a="http://schemas.openxmlformats.org/drawingml/2006/main">
              <a:ext uri="{FF2B5EF4-FFF2-40B4-BE49-F238E27FC236}">
                <a16:creationId xmlns:a16="http://schemas.microsoft.com/office/drawing/2014/main" id="{3FC5D572-250F-4BD9-8CE2-D694EDFA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C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FC857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3" name="txt-124-516">
            <a:extLst xmlns:a="http://schemas.openxmlformats.org/drawingml/2006/main">
              <a:ext uri="{FF2B5EF4-FFF2-40B4-BE49-F238E27FC236}">
                <a16:creationId xmlns:a16="http://schemas.microsoft.com/office/drawing/2014/main" id="{54E2625A-C33F-410A-91FD-A16C8B7E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DEMO</a:t>
            </a:r>
          </a:p>
        </p:txBody>
      </p:sp>
      <p:sp>
        <p:nvSpPr>
          <p:cNvPr id="24" name="txt-286-516">
            <a:extLst xmlns:a="http://schemas.openxmlformats.org/drawingml/2006/main">
              <a:ext uri="{FF2B5EF4-FFF2-40B4-BE49-F238E27FC236}">
                <a16:creationId xmlns:a16="http://schemas.microsoft.com/office/drawing/2014/main" id="{841AB60C-14EF-47C4-AB9E-D1679AED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149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Streamlit + local Ollama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FB84D-50CB-45C6-85D3-A2470CE1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52600"/>
            <a:ext cx="392430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26" name="txt-844-216">
            <a:extLst xmlns:a="http://schemas.openxmlformats.org/drawingml/2006/main">
              <a:ext uri="{FF2B5EF4-FFF2-40B4-BE49-F238E27FC236}">
                <a16:creationId xmlns:a16="http://schemas.microsoft.com/office/drawing/2014/main" id="{B0B1B2BE-BD0E-4E08-9C4F-772E2081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LOCAL DEPLOYMENT</a:t>
            </a:r>
          </a:p>
        </p:txBody>
      </p:sp>
      <p:sp>
        <p:nvSpPr>
          <p:cNvPr id="27" name="txt-844-270">
            <a:extLst xmlns:a="http://schemas.openxmlformats.org/drawingml/2006/main">
              <a:ext uri="{FF2B5EF4-FFF2-40B4-BE49-F238E27FC236}">
                <a16:creationId xmlns:a16="http://schemas.microsoft.com/office/drawing/2014/main" id="{467C6266-DBB9-4116-A690-E75183BE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8" name="txt-894-266">
            <a:extLst xmlns:a="http://schemas.openxmlformats.org/drawingml/2006/main">
              <a:ext uri="{FF2B5EF4-FFF2-40B4-BE49-F238E27FC236}">
                <a16:creationId xmlns:a16="http://schemas.microsoft.com/office/drawing/2014/main" id="{03CF4DB1-EEFD-45D1-A8AF-EA00912D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ollama serve</a:t>
            </a:r>
          </a:p>
        </p:txBody>
      </p:sp>
      <p:sp>
        <p:nvSpPr>
          <p:cNvPr id="29" name="txt-844-333">
            <a:extLst xmlns:a="http://schemas.openxmlformats.org/drawingml/2006/main">
              <a:ext uri="{FF2B5EF4-FFF2-40B4-BE49-F238E27FC236}">
                <a16:creationId xmlns:a16="http://schemas.microsoft.com/office/drawing/2014/main" id="{130FD3AA-1574-4BCA-9D24-7ECC7B5B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718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0" name="txt-894-329">
            <a:extLst xmlns:a="http://schemas.openxmlformats.org/drawingml/2006/main">
              <a:ext uri="{FF2B5EF4-FFF2-40B4-BE49-F238E27FC236}">
                <a16:creationId xmlns:a16="http://schemas.microsoft.com/office/drawing/2014/main" id="{CEBE3139-0748-4B99-995F-01E5944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337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streamlit run app.py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202AD0-322B-4DEA-A098-B4A3AB7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32" name="txt-844-425">
            <a:extLst xmlns:a="http://schemas.openxmlformats.org/drawingml/2006/main">
              <a:ext uri="{FF2B5EF4-FFF2-40B4-BE49-F238E27FC236}">
                <a16:creationId xmlns:a16="http://schemas.microsoft.com/office/drawing/2014/main" id="{0C8D5CF0-1249-486D-8DA3-1CBAB1DF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481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Browser</a:t>
            </a:r>
          </a:p>
        </p:txBody>
      </p:sp>
      <p:sp>
        <p:nvSpPr>
          <p:cNvPr id="33" name="txt-980-422">
            <a:extLst xmlns:a="http://schemas.openxmlformats.org/drawingml/2006/main">
              <a:ext uri="{FF2B5EF4-FFF2-40B4-BE49-F238E27FC236}">
                <a16:creationId xmlns:a16="http://schemas.microsoft.com/office/drawing/2014/main" id="{9ED5E4DD-4228-487F-813B-FD451FC7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95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localhost:8501</a:t>
            </a:r>
          </a:p>
        </p:txBody>
      </p:sp>
      <p:sp>
        <p:nvSpPr>
          <p:cNvPr id="34" name="txt-844-482">
            <a:extLst xmlns:a="http://schemas.openxmlformats.org/drawingml/2006/main">
              <a:ext uri="{FF2B5EF4-FFF2-40B4-BE49-F238E27FC236}">
                <a16:creationId xmlns:a16="http://schemas.microsoft.com/office/drawing/2014/main" id="{521B12B2-18D5-49BB-BA4F-F94ADE0D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Deployment choice</a:t>
            </a:r>
          </a:p>
        </p:txBody>
      </p:sp>
      <p:sp>
        <p:nvSpPr>
          <p:cNvPr id="35" name="txt-844-506">
            <a:extLst xmlns:a="http://schemas.openxmlformats.org/drawingml/2006/main">
              <a:ext uri="{FF2B5EF4-FFF2-40B4-BE49-F238E27FC236}">
                <a16:creationId xmlns:a16="http://schemas.microsoft.com/office/drawing/2014/main" id="{46A1C548-0CDF-4088-B654-29FE0FEC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Local-first: private, repeatable and no cloud API key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8E39EC-06B1-4279-BF84-CC7C9F80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9775"/>
            <a:ext cx="11144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081026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37" name="txt-74-620">
            <a:extLst xmlns:a="http://schemas.openxmlformats.org/drawingml/2006/main">
              <a:ext uri="{FF2B5EF4-FFF2-40B4-BE49-F238E27FC236}">
                <a16:creationId xmlns:a16="http://schemas.microsoft.com/office/drawing/2014/main" id="{14EDB64A-075F-44DE-B6AA-2549706F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Implemented prototype → tested workflow → measured benchmark → jury demonstration</a:t>
            </a:r>
          </a:p>
        </p:txBody>
      </p:sp>
    </p:spTree>
    <p:extLst>
      <p:ext uri="{BB962C8B-B14F-4D97-AF65-F5344CB8AC3E}">
        <p14:creationId xmlns:p14="http://schemas.microsoft.com/office/powerpoint/2010/main" val="6029529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291D6D1F-3366-47B7-8D1E-0DC4B5F8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11 · CURRENT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E5E3FE1-5A5B-426A-AF8E-06C6C771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Fallback results prove workflow—not Qwen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91ABC-5769-498A-BB1B-5844DDD1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BD3E5C9-7AE8-46D3-A50A-07852514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0B43A-9D6F-465E-9570-B07136CE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5905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815bb25cf04a3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6D5EA-AAEF-4A6D-B03D-C34CE388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28800"/>
            <a:ext cx="2857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FF6B7A"/>
            </a:solidFill>
            <a:prstDash val="solid"/>
          </a:ln>
        </p:spPr>
      </p:sp>
      <p:sp>
        <p:nvSpPr>
          <p:cNvPr id="8" name="txt-740-199">
            <a:extLst xmlns:a="http://schemas.openxmlformats.org/drawingml/2006/main">
              <a:ext uri="{FF2B5EF4-FFF2-40B4-BE49-F238E27FC236}">
                <a16:creationId xmlns:a16="http://schemas.microsoft.com/office/drawing/2014/main" id="{56736F2C-EAF9-4875-ABF7-057FE22A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954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rPr>
              <a:t>DETERMINISTIC FALLBACK · 6 RUNS</a:t>
            </a:r>
          </a:p>
        </p:txBody>
      </p:sp>
      <p:sp>
        <p:nvSpPr>
          <p:cNvPr id="9" name="txt-730-258">
            <a:extLst xmlns:a="http://schemas.openxmlformats.org/drawingml/2006/main">
              <a:ext uri="{FF2B5EF4-FFF2-40B4-BE49-F238E27FC236}">
                <a16:creationId xmlns:a16="http://schemas.microsoft.com/office/drawing/2014/main" id="{B633842F-94B0-45F6-BC66-7D162AEA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6B7A"/>
                </a:solidFill>
                <a:latin typeface="Aptos Display"/>
                <a:ea typeface="Aptos Display"/>
                <a:cs typeface="Aptos Display"/>
              </a:rPr>
              <a:t>0 / 3</a:t>
            </a:r>
          </a:p>
        </p:txBody>
      </p:sp>
      <p:sp>
        <p:nvSpPr>
          <p:cNvPr id="10" name="txt-900-272">
            <a:extLst xmlns:a="http://schemas.openxmlformats.org/drawingml/2006/main">
              <a:ext uri="{FF2B5EF4-FFF2-40B4-BE49-F238E27FC236}">
                <a16:creationId xmlns:a16="http://schemas.microsoft.com/office/drawing/2014/main" id="{21D353EE-7751-4CBE-9A3E-3E78581C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Linear greedy</a:t>
            </a:r>
          </a:p>
        </p:txBody>
      </p:sp>
      <p:sp>
        <p:nvSpPr>
          <p:cNvPr id="11" name="txt-730-333">
            <a:extLst xmlns:a="http://schemas.openxmlformats.org/drawingml/2006/main">
              <a:ext uri="{FF2B5EF4-FFF2-40B4-BE49-F238E27FC236}">
                <a16:creationId xmlns:a16="http://schemas.microsoft.com/office/drawing/2014/main" id="{6774682D-8F93-4581-BED7-634C2AFF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71825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3 / 3</a:t>
            </a:r>
          </a:p>
        </p:txBody>
      </p:sp>
      <p:sp>
        <p:nvSpPr>
          <p:cNvPr id="12" name="txt-900-347">
            <a:extLst xmlns:a="http://schemas.openxmlformats.org/drawingml/2006/main">
              <a:ext uri="{FF2B5EF4-FFF2-40B4-BE49-F238E27FC236}">
                <a16:creationId xmlns:a16="http://schemas.microsoft.com/office/drawing/2014/main" id="{863117D0-1B8B-4173-A061-A5C471F4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051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ToT + exact look-ahead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65716-84E3-4AC7-958C-B900F974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43624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14" name="txt-760-448">
            <a:extLst xmlns:a="http://schemas.openxmlformats.org/drawingml/2006/main">
              <a:ext uri="{FF2B5EF4-FFF2-40B4-BE49-F238E27FC236}">
                <a16:creationId xmlns:a16="http://schemas.microsoft.com/office/drawing/2014/main" id="{395D452C-5F25-48B0-887A-0C41BE2E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SCIENTIFIC BOUNDARY</a:t>
            </a:r>
          </a:p>
        </p:txBody>
      </p:sp>
      <p:sp>
        <p:nvSpPr>
          <p:cNvPr id="15" name="txt-760-490">
            <a:extLst xmlns:a="http://schemas.openxmlformats.org/drawingml/2006/main">
              <a:ext uri="{FF2B5EF4-FFF2-40B4-BE49-F238E27FC236}">
                <a16:creationId xmlns:a16="http://schemas.microsoft.com/office/drawing/2014/main" id="{9D6B5835-764E-4345-A8DE-CE530FF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2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E8EEFF"/>
                </a:solidFill>
                <a:latin typeface="Aptos Display"/>
                <a:ea typeface="Aptos Display"/>
                <a:cs typeface="Aptos Display"/>
              </a:rPr>
              <a:t>Do not cite this as Qwen evidence. Replace with measured Ollama results before the jury.</a:t>
            </a:r>
          </a:p>
        </p:txBody>
      </p:sp>
    </p:spTree>
    <p:extLst>
      <p:ext uri="{BB962C8B-B14F-4D97-AF65-F5344CB8AC3E}">
        <p14:creationId xmlns:p14="http://schemas.microsoft.com/office/powerpoint/2010/main" val="15980380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0FA27DFB-1D34-480E-B295-167E53CD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12 · JURY DEMONSTRATION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F87E1B-272E-456C-AEB5-F4289096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The jury sees the complete agent loop in three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11B06-E08C-487B-AE7A-4BB93229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02A1213-9276-4EAC-AAE7-0F152918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ACA39-8573-44CA-84BC-699C698A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60309-E176-4874-BAEC-F3992BCF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238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6E6A6"/>
            </a:solidFill>
            <a:prstDash val="solid"/>
          </a:ln>
        </p:spPr>
      </p:sp>
      <p:sp>
        <p:nvSpPr>
          <p:cNvPr id="7" name="txt-64-191">
            <a:extLst xmlns:a="http://schemas.openxmlformats.org/drawingml/2006/main">
              <a:ext uri="{FF2B5EF4-FFF2-40B4-BE49-F238E27FC236}">
                <a16:creationId xmlns:a16="http://schemas.microsoft.com/office/drawing/2014/main" id="{48D1E41C-0A97-4781-967E-379727A6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LIVE DEMO</a:t>
            </a:r>
          </a:p>
        </p:txBody>
      </p:sp>
      <p:sp>
        <p:nvSpPr>
          <p:cNvPr id="8" name="txt-54-240">
            <a:extLst xmlns:a="http://schemas.openxmlformats.org/drawingml/2006/main">
              <a:ext uri="{FF2B5EF4-FFF2-40B4-BE49-F238E27FC236}">
                <a16:creationId xmlns:a16="http://schemas.microsoft.com/office/drawing/2014/main" id="{C8C9C438-CD9F-4CE8-B4BB-1E838E9B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txt-126-238">
            <a:extLst xmlns:a="http://schemas.openxmlformats.org/drawingml/2006/main">
              <a:ext uri="{FF2B5EF4-FFF2-40B4-BE49-F238E27FC236}">
                <a16:creationId xmlns:a16="http://schemas.microsoft.com/office/drawing/2014/main" id="{9439B4B8-5998-4EF4-B33D-B9A2969A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Enter 3, 3, 8, 8</a:t>
            </a:r>
          </a:p>
        </p:txBody>
      </p:sp>
      <p:sp>
        <p:nvSpPr>
          <p:cNvPr id="10" name="txt-126-281">
            <a:extLst xmlns:a="http://schemas.openxmlformats.org/drawingml/2006/main">
              <a:ext uri="{FF2B5EF4-FFF2-40B4-BE49-F238E27FC236}">
                <a16:creationId xmlns:a16="http://schemas.microsoft.com/office/drawing/2014/main" id="{4C715795-E1F2-47E5-8444-36B8CE2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765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Show the difficult input and select ToT.</a:t>
            </a:r>
          </a:p>
        </p:txBody>
      </p:sp>
      <p:sp>
        <p:nvSpPr>
          <p:cNvPr id="11" name="txt-54-352">
            <a:extLst xmlns:a="http://schemas.openxmlformats.org/drawingml/2006/main">
              <a:ext uri="{FF2B5EF4-FFF2-40B4-BE49-F238E27FC236}">
                <a16:creationId xmlns:a16="http://schemas.microsoft.com/office/drawing/2014/main" id="{B07814A6-5C41-4FDE-B086-CD81ED79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txt-126-350">
            <a:extLst xmlns:a="http://schemas.openxmlformats.org/drawingml/2006/main">
              <a:ext uri="{FF2B5EF4-FFF2-40B4-BE49-F238E27FC236}">
                <a16:creationId xmlns:a16="http://schemas.microsoft.com/office/drawing/2014/main" id="{46F02344-C6B0-4F6D-9B29-1E140EC1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Watch branches</a:t>
            </a:r>
          </a:p>
        </p:txBody>
      </p:sp>
      <p:sp>
        <p:nvSpPr>
          <p:cNvPr id="13" name="txt-126-393">
            <a:extLst xmlns:a="http://schemas.openxmlformats.org/drawingml/2006/main">
              <a:ext uri="{FF2B5EF4-FFF2-40B4-BE49-F238E27FC236}">
                <a16:creationId xmlns:a16="http://schemas.microsoft.com/office/drawing/2014/main" id="{E920A916-48DD-4BE6-B123-6D8CBD5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433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Point to generation, scoring and pruning.</a:t>
            </a:r>
          </a:p>
        </p:txBody>
      </p:sp>
      <p:sp>
        <p:nvSpPr>
          <p:cNvPr id="14" name="txt-54-464">
            <a:extLst xmlns:a="http://schemas.openxmlformats.org/drawingml/2006/main">
              <a:ext uri="{FF2B5EF4-FFF2-40B4-BE49-F238E27FC236}">
                <a16:creationId xmlns:a16="http://schemas.microsoft.com/office/drawing/2014/main" id="{F547A727-419A-48A5-9000-77D81746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6E6A6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txt-126-462">
            <a:extLst xmlns:a="http://schemas.openxmlformats.org/drawingml/2006/main">
              <a:ext uri="{FF2B5EF4-FFF2-40B4-BE49-F238E27FC236}">
                <a16:creationId xmlns:a16="http://schemas.microsoft.com/office/drawing/2014/main" id="{99D15EEE-A927-4F52-8164-6893F36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Verify + export</a:t>
            </a:r>
          </a:p>
        </p:txBody>
      </p:sp>
      <p:sp>
        <p:nvSpPr>
          <p:cNvPr id="16" name="txt-126-505">
            <a:extLst xmlns:a="http://schemas.openxmlformats.org/drawingml/2006/main">
              <a:ext uri="{FF2B5EF4-FFF2-40B4-BE49-F238E27FC236}">
                <a16:creationId xmlns:a16="http://schemas.microsoft.com/office/drawing/2014/main" id="{3CFAE123-217D-4F05-AE13-F9306168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Show VALID, metrics and comparison CSV.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7E1C0-73F7-42EA-A3BB-69EFC64A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190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F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18" name="txt-642-184">
            <a:extLst xmlns:a="http://schemas.openxmlformats.org/drawingml/2006/main">
              <a:ext uri="{FF2B5EF4-FFF2-40B4-BE49-F238E27FC236}">
                <a16:creationId xmlns:a16="http://schemas.microsoft.com/office/drawing/2014/main" id="{B04AF1AE-F120-4AFD-89C8-D61AE4C3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VIVA ANCHORS</a:t>
            </a:r>
          </a:p>
        </p:txBody>
      </p:sp>
      <p:sp>
        <p:nvSpPr>
          <p:cNvPr id="19" name="txt-642-230">
            <a:extLst xmlns:a="http://schemas.openxmlformats.org/drawingml/2006/main">
              <a:ext uri="{FF2B5EF4-FFF2-40B4-BE49-F238E27FC236}">
                <a16:creationId xmlns:a16="http://schemas.microsoft.com/office/drawing/2014/main" id="{583B077B-34C7-4941-B33D-E34B3D9D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Why agentic?</a:t>
            </a:r>
          </a:p>
        </p:txBody>
      </p:sp>
      <p:sp>
        <p:nvSpPr>
          <p:cNvPr id="20" name="txt-892-230">
            <a:extLst xmlns:a="http://schemas.openxmlformats.org/drawingml/2006/main">
              <a:ext uri="{FF2B5EF4-FFF2-40B4-BE49-F238E27FC236}">
                <a16:creationId xmlns:a16="http://schemas.microsoft.com/office/drawing/2014/main" id="{B3B80ADC-CA46-4CAB-904E-CD72B02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It plans, acts, evaluates and adapts.</a:t>
            </a:r>
          </a:p>
        </p:txBody>
      </p:sp>
      <p:sp>
        <p:nvSpPr>
          <p:cNvPr id="21" name="txt-642-316">
            <a:extLst xmlns:a="http://schemas.openxmlformats.org/drawingml/2006/main">
              <a:ext uri="{FF2B5EF4-FFF2-40B4-BE49-F238E27FC236}">
                <a16:creationId xmlns:a16="http://schemas.microsoft.com/office/drawing/2014/main" id="{6F05482C-BD4E-4376-8001-18D2A296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9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Why ToT?</a:t>
            </a:r>
          </a:p>
        </p:txBody>
      </p:sp>
      <p:sp>
        <p:nvSpPr>
          <p:cNvPr id="22" name="txt-892-316">
            <a:extLst xmlns:a="http://schemas.openxmlformats.org/drawingml/2006/main">
              <a:ext uri="{FF2B5EF4-FFF2-40B4-BE49-F238E27FC236}">
                <a16:creationId xmlns:a16="http://schemas.microsoft.com/office/drawing/2014/main" id="{CBDD7640-FA06-491A-B3A8-40937C20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It preserves alternatives and can backtrack.</a:t>
            </a:r>
          </a:p>
        </p:txBody>
      </p:sp>
      <p:sp>
        <p:nvSpPr>
          <p:cNvPr id="23" name="txt-642-402">
            <a:extLst xmlns:a="http://schemas.openxmlformats.org/drawingml/2006/main">
              <a:ext uri="{FF2B5EF4-FFF2-40B4-BE49-F238E27FC236}">
                <a16:creationId xmlns:a16="http://schemas.microsoft.com/office/drawing/2014/main" id="{62CCD25F-A4F4-4AB1-A713-2230688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What is the cost?</a:t>
            </a:r>
          </a:p>
        </p:txBody>
      </p:sp>
      <p:sp>
        <p:nvSpPr>
          <p:cNvPr id="24" name="txt-892-402">
            <a:extLst xmlns:a="http://schemas.openxmlformats.org/drawingml/2006/main">
              <a:ext uri="{FF2B5EF4-FFF2-40B4-BE49-F238E27FC236}">
                <a16:creationId xmlns:a16="http://schemas.microsoft.com/office/drawing/2014/main" id="{15BAFD02-919D-4BC7-AC29-ED066F69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290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More nodes, tokens and latency.</a:t>
            </a:r>
          </a:p>
        </p:txBody>
      </p:sp>
      <p:sp>
        <p:nvSpPr>
          <p:cNvPr id="25" name="txt-642-488">
            <a:extLst xmlns:a="http://schemas.openxmlformats.org/drawingml/2006/main">
              <a:ext uri="{FF2B5EF4-FFF2-40B4-BE49-F238E27FC236}">
                <a16:creationId xmlns:a16="http://schemas.microsoft.com/office/drawing/2014/main" id="{6C0F62DD-F5E2-4D86-9F0D-EC402265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48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What if Qwen hallucinates?</a:t>
            </a:r>
          </a:p>
        </p:txBody>
      </p:sp>
      <p:sp>
        <p:nvSpPr>
          <p:cNvPr id="26" name="txt-892-488">
            <a:extLst xmlns:a="http://schemas.openxmlformats.org/drawingml/2006/main">
              <a:ext uri="{FF2B5EF4-FFF2-40B4-BE49-F238E27FC236}">
                <a16:creationId xmlns:a16="http://schemas.microsoft.com/office/drawing/2014/main" id="{6DCECB05-D890-453B-8BD2-6710318D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482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Python validation rejects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C03FE-F10D-49A5-A1CE-42491B3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57850"/>
            <a:ext cx="52959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28" name="txt-666-607">
            <a:extLst xmlns:a="http://schemas.openxmlformats.org/drawingml/2006/main">
              <a:ext uri="{FF2B5EF4-FFF2-40B4-BE49-F238E27FC236}">
                <a16:creationId xmlns:a16="http://schemas.microsoft.com/office/drawing/2014/main" id="{B314255D-C09C-476E-9711-8BABC3A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81675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Core defense: the LLM proposes; deterministic tools decide truth.</a:t>
            </a:r>
          </a:p>
        </p:txBody>
      </p:sp>
    </p:spTree>
    <p:extLst>
      <p:ext uri="{BB962C8B-B14F-4D97-AF65-F5344CB8AC3E}">
        <p14:creationId xmlns:p14="http://schemas.microsoft.com/office/powerpoint/2010/main" val="14630874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9df4f82854d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15A79-E46C-49FF-A2F3-5ED7BEC0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20764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3" name="txt-68-59">
            <a:extLst xmlns:a="http://schemas.openxmlformats.org/drawingml/2006/main">
              <a:ext uri="{FF2B5EF4-FFF2-40B4-BE49-F238E27FC236}">
                <a16:creationId xmlns:a16="http://schemas.microsoft.com/office/drawing/2014/main" id="{CCBE478C-9F38-4B31-8C5B-F3FE2026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FINAL RECOMMENDATION</a:t>
            </a:r>
          </a:p>
        </p:txBody>
      </p:sp>
      <p:sp>
        <p:nvSpPr>
          <p:cNvPr id="4" name="txt-58-126">
            <a:extLst xmlns:a="http://schemas.openxmlformats.org/drawingml/2006/main">
              <a:ext uri="{FF2B5EF4-FFF2-40B4-BE49-F238E27FC236}">
                <a16:creationId xmlns:a16="http://schemas.microsoft.com/office/drawing/2014/main" id="{0C495FB1-28E8-4B54-B01E-D4447AB6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42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Search only when</a:t>
            </a:r>
          </a:p>
          <a:p xmlns:a="http://schemas.openxmlformats.org/drawingml/2006/main">
            <a:pPr algn="l">
              <a:defRPr sz="36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verification demands 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AE25B-0A00-4145-A959-15D5CADB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2400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1730"/>
          </a:solidFill>
          <a:ln xmlns:a="http://schemas.openxmlformats.org/drawingml/2006/main" w="13335">
            <a:solidFill>
              <a:srgbClr val="26385F"/>
            </a:solidFill>
            <a:prstDash val="solid"/>
          </a:ln>
        </p:spPr>
      </p:sp>
      <p:sp>
        <p:nvSpPr>
          <p:cNvPr id="6" name="txt-80-341">
            <a:extLst xmlns:a="http://schemas.openxmlformats.org/drawingml/2006/main">
              <a:ext uri="{FF2B5EF4-FFF2-40B4-BE49-F238E27FC236}">
                <a16:creationId xmlns:a16="http://schemas.microsoft.com/office/drawing/2014/main" id="{AFBEF095-A1EA-4DB6-B29E-07BFB9B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1  TRY LINEAR</a:t>
            </a:r>
          </a:p>
        </p:txBody>
      </p:sp>
      <p:sp>
        <p:nvSpPr>
          <p:cNvPr id="7" name="txt-319-335">
            <a:extLst xmlns:a="http://schemas.openxmlformats.org/drawingml/2006/main">
              <a:ext uri="{FF2B5EF4-FFF2-40B4-BE49-F238E27FC236}">
                <a16:creationId xmlns:a16="http://schemas.microsoft.com/office/drawing/2014/main" id="{8A169473-9FE8-4779-A295-958DD3C1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90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88584-1ED4-46CD-9F97-31837EF0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2400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31D7FF"/>
            </a:solidFill>
            <a:prstDash val="solid"/>
          </a:ln>
        </p:spPr>
      </p:sp>
      <p:sp>
        <p:nvSpPr>
          <p:cNvPr id="9" name="txt-400-341">
            <a:extLst xmlns:a="http://schemas.openxmlformats.org/drawingml/2006/main">
              <a:ext uri="{FF2B5EF4-FFF2-40B4-BE49-F238E27FC236}">
                <a16:creationId xmlns:a16="http://schemas.microsoft.com/office/drawing/2014/main" id="{A400A061-5AB4-40A4-B043-6E23C359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480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2  VALIDATE</a:t>
            </a:r>
          </a:p>
        </p:txBody>
      </p:sp>
      <p:sp>
        <p:nvSpPr>
          <p:cNvPr id="10" name="txt-639-335">
            <a:extLst xmlns:a="http://schemas.openxmlformats.org/drawingml/2006/main">
              <a:ext uri="{FF2B5EF4-FFF2-40B4-BE49-F238E27FC236}">
                <a16:creationId xmlns:a16="http://schemas.microsoft.com/office/drawing/2014/main" id="{2DE8F941-2A75-413E-806D-A142F342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90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DD315-A20E-463F-A4DC-FF7C3B8D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90850"/>
            <a:ext cx="27241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E3C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</p:sp>
      <p:sp>
        <p:nvSpPr>
          <p:cNvPr id="12" name="txt-720-341">
            <a:extLst xmlns:a="http://schemas.openxmlformats.org/drawingml/2006/main">
              <a:ext uri="{FF2B5EF4-FFF2-40B4-BE49-F238E27FC236}">
                <a16:creationId xmlns:a16="http://schemas.microsoft.com/office/drawing/2014/main" id="{AD3E2E06-88CB-4293-8264-16E3588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48025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3  ESCALATE TO ToT</a:t>
            </a:r>
          </a:p>
        </p:txBody>
      </p:sp>
      <p:sp>
        <p:nvSpPr>
          <p:cNvPr id="13" name="txt-58-458">
            <a:extLst xmlns:a="http://schemas.openxmlformats.org/drawingml/2006/main">
              <a:ext uri="{FF2B5EF4-FFF2-40B4-BE49-F238E27FC236}">
                <a16:creationId xmlns:a16="http://schemas.microsoft.com/office/drawing/2014/main" id="{98CFD2A1-4BCE-47D5-8DC4-2175921A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31D7FF"/>
                </a:solidFill>
                <a:latin typeface="Aptos Display"/>
                <a:ea typeface="Aptos Display"/>
                <a:cs typeface="Aptos Display"/>
              </a:rPr>
              <a:t>Tree-of-Thought is not universally better.</a:t>
            </a:r>
          </a:p>
        </p:txBody>
      </p:sp>
      <p:sp>
        <p:nvSpPr>
          <p:cNvPr id="14" name="txt-58-515">
            <a:extLst xmlns:a="http://schemas.openxmlformats.org/drawingml/2006/main">
              <a:ext uri="{FF2B5EF4-FFF2-40B4-BE49-F238E27FC236}">
                <a16:creationId xmlns:a16="http://schemas.microsoft.com/office/drawing/2014/main" id="{40B9A9E3-D9C5-4170-8DE9-8D29C5FC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733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86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5F8FF"/>
                </a:solidFill>
                <a:latin typeface="Aptos Display"/>
                <a:ea typeface="Aptos Display"/>
                <a:cs typeface="Aptos Display"/>
              </a:rPr>
              <a:t>It buys search coverage with additional computation—and earns that cost when early choices are deceptive or errors are expensive.</a:t>
            </a:r>
          </a:p>
        </p:txBody>
      </p:sp>
      <p:sp>
        <p:nvSpPr>
          <p:cNvPr id="15" name="txt-58-638">
            <a:extLst xmlns:a="http://schemas.openxmlformats.org/drawingml/2006/main">
              <a:ext uri="{FF2B5EF4-FFF2-40B4-BE49-F238E27FC236}">
                <a16:creationId xmlns:a16="http://schemas.microsoft.com/office/drawing/2014/main" id="{3706079F-0F15-4083-B6F3-EE488945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769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D96CFF"/>
                </a:solidFill>
                <a:latin typeface="Aptos Display"/>
                <a:ea typeface="Aptos Display"/>
                <a:cs typeface="Aptos Display"/>
              </a:rPr>
              <a:t>PLAN  ·  ACT  ·  EVALUATE  ·  ADAPT</a:t>
            </a:r>
          </a:p>
        </p:txBody>
      </p:sp>
      <p:sp>
        <p:nvSpPr>
          <p:cNvPr id="16" name="txt-1170-664">
            <a:extLst xmlns:a="http://schemas.openxmlformats.org/drawingml/2006/main">
              <a:ext uri="{FF2B5EF4-FFF2-40B4-BE49-F238E27FC236}">
                <a16:creationId xmlns:a16="http://schemas.microsoft.com/office/drawing/2014/main" id="{38E440F5-6C3E-4447-9018-2CF23AB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94A3C7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99767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2026-09-02T22:48:33.3950000Z</dcterms:created>
  <dcterms:modified xsi:type="dcterms:W3CDTF">2026-09-02T22:48:33.3950000Z</dcterms:modified>
</coreProperties>
</file>